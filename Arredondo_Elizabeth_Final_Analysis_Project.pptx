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Raleway" pitchFamily="2" charset="0"/>
      <p:regular r:id="rId20"/>
    </p:embeddedFont>
    <p:embeddedFont>
      <p:font typeface="Raleway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C3BC01-2C14-4CC1-A097-70C855371578}" v="22" dt="2025-12-05T04:18:39.6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466" y="27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izabeth Arredondo" userId="b05ce88d20f1ee90" providerId="LiveId" clId="{06C27BFA-2871-42ED-BEC4-BF25914AE792}"/>
    <pc:docChg chg="undo custSel modSld">
      <pc:chgData name="Elizabeth Arredondo" userId="b05ce88d20f1ee90" providerId="LiveId" clId="{06C27BFA-2871-42ED-BEC4-BF25914AE792}" dt="2025-12-05T20:23:15.197" v="430" actId="20577"/>
      <pc:docMkLst>
        <pc:docMk/>
      </pc:docMkLst>
      <pc:sldChg chg="modSp mod">
        <pc:chgData name="Elizabeth Arredondo" userId="b05ce88d20f1ee90" providerId="LiveId" clId="{06C27BFA-2871-42ED-BEC4-BF25914AE792}" dt="2025-12-05T03:37:54.528" v="101" actId="1076"/>
        <pc:sldMkLst>
          <pc:docMk/>
          <pc:sldMk cId="0" sldId="256"/>
        </pc:sldMkLst>
        <pc:spChg chg="mod">
          <ac:chgData name="Elizabeth Arredondo" userId="b05ce88d20f1ee90" providerId="LiveId" clId="{06C27BFA-2871-42ED-BEC4-BF25914AE792}" dt="2025-12-05T03:37:39.019" v="79" actId="1076"/>
          <ac:spMkLst>
            <pc:docMk/>
            <pc:sldMk cId="0" sldId="256"/>
            <ac:spMk id="6" creationId="{00000000-0000-0000-0000-000000000000}"/>
          </ac:spMkLst>
        </pc:spChg>
        <pc:grpChg chg="mod">
          <ac:chgData name="Elizabeth Arredondo" userId="b05ce88d20f1ee90" providerId="LiveId" clId="{06C27BFA-2871-42ED-BEC4-BF25914AE792}" dt="2025-12-05T03:37:54.528" v="101" actId="1076"/>
          <ac:grpSpMkLst>
            <pc:docMk/>
            <pc:sldMk cId="0" sldId="256"/>
            <ac:grpSpMk id="5" creationId="{00000000-0000-0000-0000-000000000000}"/>
          </ac:grpSpMkLst>
        </pc:grpChg>
      </pc:sldChg>
      <pc:sldChg chg="modNotesTx">
        <pc:chgData name="Elizabeth Arredondo" userId="b05ce88d20f1ee90" providerId="LiveId" clId="{06C27BFA-2871-42ED-BEC4-BF25914AE792}" dt="2025-12-05T20:23:15.197" v="430" actId="20577"/>
        <pc:sldMkLst>
          <pc:docMk/>
          <pc:sldMk cId="0" sldId="260"/>
        </pc:sldMkLst>
      </pc:sldChg>
      <pc:sldChg chg="modSp mod">
        <pc:chgData name="Elizabeth Arredondo" userId="b05ce88d20f1ee90" providerId="LiveId" clId="{06C27BFA-2871-42ED-BEC4-BF25914AE792}" dt="2025-12-05T03:41:14.687" v="113" actId="20577"/>
        <pc:sldMkLst>
          <pc:docMk/>
          <pc:sldMk cId="0" sldId="263"/>
        </pc:sldMkLst>
        <pc:spChg chg="mod">
          <ac:chgData name="Elizabeth Arredondo" userId="b05ce88d20f1ee90" providerId="LiveId" clId="{06C27BFA-2871-42ED-BEC4-BF25914AE792}" dt="2025-12-05T03:41:14.687" v="113" actId="20577"/>
          <ac:spMkLst>
            <pc:docMk/>
            <pc:sldMk cId="0" sldId="263"/>
            <ac:spMk id="4" creationId="{00000000-0000-0000-0000-000000000000}"/>
          </ac:spMkLst>
        </pc:spChg>
      </pc:sldChg>
      <pc:sldChg chg="modSp mod">
        <pc:chgData name="Elizabeth Arredondo" userId="b05ce88d20f1ee90" providerId="LiveId" clId="{06C27BFA-2871-42ED-BEC4-BF25914AE792}" dt="2025-12-05T04:18:38.196" v="349" actId="21"/>
        <pc:sldMkLst>
          <pc:docMk/>
          <pc:sldMk cId="0" sldId="265"/>
        </pc:sldMkLst>
        <pc:spChg chg="mod">
          <ac:chgData name="Elizabeth Arredondo" userId="b05ce88d20f1ee90" providerId="LiveId" clId="{06C27BFA-2871-42ED-BEC4-BF25914AE792}" dt="2025-12-05T04:18:38.196" v="349" actId="21"/>
          <ac:spMkLst>
            <pc:docMk/>
            <pc:sldMk cId="0" sldId="265"/>
            <ac:spMk id="4" creationId="{00000000-0000-0000-0000-000000000000}"/>
          </ac:spMkLst>
        </pc:spChg>
      </pc:sldChg>
      <pc:sldChg chg="addSp delSp modSp mod">
        <pc:chgData name="Elizabeth Arredondo" userId="b05ce88d20f1ee90" providerId="LiveId" clId="{06C27BFA-2871-42ED-BEC4-BF25914AE792}" dt="2025-12-05T03:28:51.688" v="52" actId="20577"/>
        <pc:sldMkLst>
          <pc:docMk/>
          <pc:sldMk cId="0" sldId="268"/>
        </pc:sldMkLst>
        <pc:spChg chg="mod">
          <ac:chgData name="Elizabeth Arredondo" userId="b05ce88d20f1ee90" providerId="LiveId" clId="{06C27BFA-2871-42ED-BEC4-BF25914AE792}" dt="2025-12-05T03:28:51.688" v="52" actId="20577"/>
          <ac:spMkLst>
            <pc:docMk/>
            <pc:sldMk cId="0" sldId="268"/>
            <ac:spMk id="5" creationId="{00000000-0000-0000-0000-000000000000}"/>
          </ac:spMkLst>
        </pc:spChg>
        <pc:spChg chg="add del">
          <ac:chgData name="Elizabeth Arredondo" userId="b05ce88d20f1ee90" providerId="LiveId" clId="{06C27BFA-2871-42ED-BEC4-BF25914AE792}" dt="2025-12-05T03:22:47.539" v="2" actId="22"/>
          <ac:spMkLst>
            <pc:docMk/>
            <pc:sldMk cId="0" sldId="268"/>
            <ac:spMk id="7" creationId="{C89E0669-14A3-A8A6-76FB-21084D292A28}"/>
          </ac:spMkLst>
        </pc:spChg>
        <pc:spChg chg="add del">
          <ac:chgData name="Elizabeth Arredondo" userId="b05ce88d20f1ee90" providerId="LiveId" clId="{06C27BFA-2871-42ED-BEC4-BF25914AE792}" dt="2025-12-05T03:22:57.821" v="4" actId="22"/>
          <ac:spMkLst>
            <pc:docMk/>
            <pc:sldMk cId="0" sldId="268"/>
            <ac:spMk id="9" creationId="{46101CD1-2AA5-85C8-714F-A2452B950E1A}"/>
          </ac:spMkLst>
        </pc:spChg>
        <pc:grpChg chg="del">
          <ac:chgData name="Elizabeth Arredondo" userId="b05ce88d20f1ee90" providerId="LiveId" clId="{06C27BFA-2871-42ED-BEC4-BF25914AE792}" dt="2025-12-05T03:22:44.302" v="0" actId="478"/>
          <ac:grpSpMkLst>
            <pc:docMk/>
            <pc:sldMk cId="0" sldId="268"/>
            <ac:grpSpMk id="2" creationId="{00000000-0000-0000-0000-000000000000}"/>
          </ac:grpSpMkLst>
        </pc:grpChg>
        <pc:picChg chg="add mod">
          <ac:chgData name="Elizabeth Arredondo" userId="b05ce88d20f1ee90" providerId="LiveId" clId="{06C27BFA-2871-42ED-BEC4-BF25914AE792}" dt="2025-12-05T03:23:54.901" v="12" actId="1076"/>
          <ac:picMkLst>
            <pc:docMk/>
            <pc:sldMk cId="0" sldId="268"/>
            <ac:picMk id="1026" creationId="{E33DF2DB-C694-6134-5C38-F8C735D5C1DE}"/>
          </ac:picMkLst>
        </pc:picChg>
      </pc:sldChg>
      <pc:sldChg chg="addSp delSp modSp mod modNotesTx">
        <pc:chgData name="Elizabeth Arredondo" userId="b05ce88d20f1ee90" providerId="LiveId" clId="{06C27BFA-2871-42ED-BEC4-BF25914AE792}" dt="2025-12-05T03:57:32.764" v="331" actId="1036"/>
        <pc:sldMkLst>
          <pc:docMk/>
          <pc:sldMk cId="0" sldId="269"/>
        </pc:sldMkLst>
        <pc:spChg chg="mod">
          <ac:chgData name="Elizabeth Arredondo" userId="b05ce88d20f1ee90" providerId="LiveId" clId="{06C27BFA-2871-42ED-BEC4-BF25914AE792}" dt="2025-12-05T03:57:32.764" v="331" actId="1036"/>
          <ac:spMkLst>
            <pc:docMk/>
            <pc:sldMk cId="0" sldId="269"/>
            <ac:spMk id="4" creationId="{00000000-0000-0000-0000-000000000000}"/>
          </ac:spMkLst>
        </pc:spChg>
        <pc:spChg chg="mod">
          <ac:chgData name="Elizabeth Arredondo" userId="b05ce88d20f1ee90" providerId="LiveId" clId="{06C27BFA-2871-42ED-BEC4-BF25914AE792}" dt="2025-12-05T03:56:53.531" v="307" actId="20577"/>
          <ac:spMkLst>
            <pc:docMk/>
            <pc:sldMk cId="0" sldId="269"/>
            <ac:spMk id="5" creationId="{00000000-0000-0000-0000-000000000000}"/>
          </ac:spMkLst>
        </pc:spChg>
        <pc:grpChg chg="del">
          <ac:chgData name="Elizabeth Arredondo" userId="b05ce88d20f1ee90" providerId="LiveId" clId="{06C27BFA-2871-42ED-BEC4-BF25914AE792}" dt="2025-12-05T03:24:04.076" v="13" actId="478"/>
          <ac:grpSpMkLst>
            <pc:docMk/>
            <pc:sldMk cId="0" sldId="269"/>
            <ac:grpSpMk id="2" creationId="{00000000-0000-0000-0000-000000000000}"/>
          </ac:grpSpMkLst>
        </pc:grpChg>
        <pc:picChg chg="add mod">
          <ac:chgData name="Elizabeth Arredondo" userId="b05ce88d20f1ee90" providerId="LiveId" clId="{06C27BFA-2871-42ED-BEC4-BF25914AE792}" dt="2025-12-05T03:24:30.805" v="22" actId="1076"/>
          <ac:picMkLst>
            <pc:docMk/>
            <pc:sldMk cId="0" sldId="269"/>
            <ac:picMk id="2050" creationId="{9E1F5D73-3B1D-5715-34FE-6C738FC5AAB0}"/>
          </ac:picMkLst>
        </pc:picChg>
      </pc:sldChg>
      <pc:sldChg chg="addSp delSp modSp mod">
        <pc:chgData name="Elizabeth Arredondo" userId="b05ce88d20f1ee90" providerId="LiveId" clId="{06C27BFA-2871-42ED-BEC4-BF25914AE792}" dt="2025-12-05T03:58:02.170" v="346" actId="14"/>
        <pc:sldMkLst>
          <pc:docMk/>
          <pc:sldMk cId="0" sldId="270"/>
        </pc:sldMkLst>
        <pc:spChg chg="del">
          <ac:chgData name="Elizabeth Arredondo" userId="b05ce88d20f1ee90" providerId="LiveId" clId="{06C27BFA-2871-42ED-BEC4-BF25914AE792}" dt="2025-12-05T03:28:24.198" v="28" actId="478"/>
          <ac:spMkLst>
            <pc:docMk/>
            <pc:sldMk cId="0" sldId="270"/>
            <ac:spMk id="2" creationId="{00000000-0000-0000-0000-000000000000}"/>
          </ac:spMkLst>
        </pc:spChg>
        <pc:spChg chg="mod">
          <ac:chgData name="Elizabeth Arredondo" userId="b05ce88d20f1ee90" providerId="LiveId" clId="{06C27BFA-2871-42ED-BEC4-BF25914AE792}" dt="2025-12-05T03:57:11.679" v="315" actId="1076"/>
          <ac:spMkLst>
            <pc:docMk/>
            <pc:sldMk cId="0" sldId="270"/>
            <ac:spMk id="3" creationId="{00000000-0000-0000-0000-000000000000}"/>
          </ac:spMkLst>
        </pc:spChg>
        <pc:spChg chg="mod">
          <ac:chgData name="Elizabeth Arredondo" userId="b05ce88d20f1ee90" providerId="LiveId" clId="{06C27BFA-2871-42ED-BEC4-BF25914AE792}" dt="2025-12-05T03:58:02.170" v="346" actId="14"/>
          <ac:spMkLst>
            <pc:docMk/>
            <pc:sldMk cId="0" sldId="270"/>
            <ac:spMk id="5" creationId="{00000000-0000-0000-0000-000000000000}"/>
          </ac:spMkLst>
        </pc:spChg>
        <pc:picChg chg="add mod">
          <ac:chgData name="Elizabeth Arredondo" userId="b05ce88d20f1ee90" providerId="LiveId" clId="{06C27BFA-2871-42ED-BEC4-BF25914AE792}" dt="2025-12-05T03:57:16.886" v="320" actId="1035"/>
          <ac:picMkLst>
            <pc:docMk/>
            <pc:sldMk cId="0" sldId="270"/>
            <ac:picMk id="7" creationId="{0E312D13-0FD9-F0EE-AFEA-4F1F1DD5759C}"/>
          </ac:picMkLst>
        </pc:picChg>
      </pc:sldChg>
      <pc:sldChg chg="modSp mod">
        <pc:chgData name="Elizabeth Arredondo" userId="b05ce88d20f1ee90" providerId="LiveId" clId="{06C27BFA-2871-42ED-BEC4-BF25914AE792}" dt="2025-12-05T03:58:35.596" v="348" actId="20577"/>
        <pc:sldMkLst>
          <pc:docMk/>
          <pc:sldMk cId="0" sldId="272"/>
        </pc:sldMkLst>
        <pc:spChg chg="mod">
          <ac:chgData name="Elizabeth Arredondo" userId="b05ce88d20f1ee90" providerId="LiveId" clId="{06C27BFA-2871-42ED-BEC4-BF25914AE792}" dt="2025-12-05T03:58:35.596" v="348" actId="20577"/>
          <ac:spMkLst>
            <pc:docMk/>
            <pc:sldMk cId="0" sldId="272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C7C5D8-F7CA-4CAB-A818-8202F7DDFC31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A4D366-22B4-4DA0-9CA0-958EB631C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758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assumptions whenever made in analysis and timeframes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A4D366-22B4-4DA0-9CA0-958EB631C47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484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Disclaimer - includes purchases with items sold during slowest days (includes during and not during those days) and purchases that occurred during slowest days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A4D366-22B4-4DA0-9CA0-958EB631C47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524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Disclaimer – only one data point for 55-64 group and only two data points for &gt; 25 group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A4D366-22B4-4DA0-9CA0-958EB631C47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056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pandas.pydata.org/docs/index.html" TargetMode="External"/><Relationship Id="rId2" Type="http://schemas.openxmlformats.org/officeDocument/2006/relationships/hyperlink" Target="https://www.kaggle.com/datasets/hanaksoy/customer-purchasing-behaviors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5143500"/>
            <a:chOff x="0" y="0"/>
            <a:chExt cx="4816593" cy="13546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354667"/>
            </a:xfrm>
            <a:custGeom>
              <a:avLst/>
              <a:gdLst/>
              <a:ahLst/>
              <a:cxnLst/>
              <a:rect l="l" t="t" r="r" b="b"/>
              <a:pathLst>
                <a:path w="4816592" h="1354667">
                  <a:moveTo>
                    <a:pt x="0" y="0"/>
                  </a:moveTo>
                  <a:lnTo>
                    <a:pt x="4816592" y="0"/>
                  </a:lnTo>
                  <a:lnTo>
                    <a:pt x="4816592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BBD8D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1392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93721" y="3079386"/>
            <a:ext cx="17300553" cy="4128228"/>
            <a:chOff x="-1" y="-200025"/>
            <a:chExt cx="4556524" cy="1087270"/>
          </a:xfrm>
        </p:grpSpPr>
        <p:sp>
          <p:nvSpPr>
            <p:cNvPr id="6" name="Freeform 6"/>
            <p:cNvSpPr/>
            <p:nvPr/>
          </p:nvSpPr>
          <p:spPr>
            <a:xfrm>
              <a:off x="-1" y="-100012"/>
              <a:ext cx="4556523" cy="887245"/>
            </a:xfrm>
            <a:custGeom>
              <a:avLst/>
              <a:gdLst/>
              <a:ahLst/>
              <a:cxnLst/>
              <a:rect l="l" t="t" r="r" b="b"/>
              <a:pathLst>
                <a:path w="4556523" h="887245">
                  <a:moveTo>
                    <a:pt x="0" y="0"/>
                  </a:moveTo>
                  <a:lnTo>
                    <a:pt x="4556523" y="0"/>
                  </a:lnTo>
                  <a:lnTo>
                    <a:pt x="4556523" y="887245"/>
                  </a:lnTo>
                  <a:lnTo>
                    <a:pt x="0" y="8872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00025"/>
              <a:ext cx="4556523" cy="1087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9"/>
                </a:lnSpc>
              </a:pPr>
              <a:r>
                <a:rPr lang="en-US" sz="9999" b="1" dirty="0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FINAL ANALYSIS PROJECT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995181" y="7707452"/>
            <a:ext cx="4297638" cy="1030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12"/>
              </a:lnSpc>
            </a:pPr>
            <a:r>
              <a:rPr lang="en-US" sz="293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Presented by</a:t>
            </a:r>
          </a:p>
          <a:p>
            <a:pPr algn="ctr">
              <a:lnSpc>
                <a:spcPts val="4112"/>
              </a:lnSpc>
              <a:spcBef>
                <a:spcPct val="0"/>
              </a:spcBef>
            </a:pPr>
            <a:r>
              <a:rPr lang="en-US" sz="293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Elizabeth Arredondo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143173"/>
            <a:ext cx="18288000" cy="6000653"/>
            <a:chOff x="0" y="0"/>
            <a:chExt cx="4816593" cy="15804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580419"/>
            </a:xfrm>
            <a:custGeom>
              <a:avLst/>
              <a:gdLst/>
              <a:ahLst/>
              <a:cxnLst/>
              <a:rect l="l" t="t" r="r" b="b"/>
              <a:pathLst>
                <a:path w="4816592" h="1580419">
                  <a:moveTo>
                    <a:pt x="0" y="0"/>
                  </a:moveTo>
                  <a:lnTo>
                    <a:pt x="4816592" y="0"/>
                  </a:lnTo>
                  <a:lnTo>
                    <a:pt x="4816592" y="1580419"/>
                  </a:lnTo>
                  <a:lnTo>
                    <a:pt x="0" y="1580419"/>
                  </a:lnTo>
                  <a:close/>
                </a:path>
              </a:pathLst>
            </a:custGeom>
            <a:solidFill>
              <a:srgbClr val="BBD8D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1637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354259" y="3274551"/>
            <a:ext cx="9579481" cy="2393655"/>
            <a:chOff x="0" y="0"/>
            <a:chExt cx="2522991" cy="63042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22991" cy="630428"/>
            </a:xfrm>
            <a:custGeom>
              <a:avLst/>
              <a:gdLst/>
              <a:ahLst/>
              <a:cxnLst/>
              <a:rect l="l" t="t" r="r" b="b"/>
              <a:pathLst>
                <a:path w="2522991" h="630428">
                  <a:moveTo>
                    <a:pt x="0" y="0"/>
                  </a:moveTo>
                  <a:lnTo>
                    <a:pt x="2522991" y="0"/>
                  </a:lnTo>
                  <a:lnTo>
                    <a:pt x="2522991" y="630428"/>
                  </a:lnTo>
                  <a:lnTo>
                    <a:pt x="0" y="6304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522991" cy="6399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8399"/>
                </a:lnSpc>
                <a:spcBef>
                  <a:spcPct val="0"/>
                </a:spcBef>
              </a:pPr>
              <a:r>
                <a:rPr lang="en-US" sz="6999" b="1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Insight 1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522042" y="6009249"/>
            <a:ext cx="7243915" cy="498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30"/>
              </a:lnSpc>
              <a:spcBef>
                <a:spcPct val="0"/>
              </a:spcBef>
            </a:pPr>
            <a:r>
              <a:rPr lang="en-US" sz="28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When do </a:t>
            </a:r>
            <a:r>
              <a:rPr lang="en-US" sz="2878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most purchases occur</a:t>
            </a:r>
            <a:r>
              <a:rPr lang="en-US" sz="28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697686"/>
            <a:ext cx="8115300" cy="7019734"/>
          </a:xfrm>
          <a:custGeom>
            <a:avLst/>
            <a:gdLst/>
            <a:ahLst/>
            <a:cxnLst/>
            <a:rect l="l" t="t" r="r" b="b"/>
            <a:pathLst>
              <a:path w="8115300" h="7019734">
                <a:moveTo>
                  <a:pt x="0" y="0"/>
                </a:moveTo>
                <a:lnTo>
                  <a:pt x="8115300" y="0"/>
                </a:lnTo>
                <a:lnTo>
                  <a:pt x="8115300" y="7019735"/>
                </a:lnTo>
                <a:lnTo>
                  <a:pt x="0" y="70197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845862" y="2215465"/>
            <a:ext cx="5467904" cy="861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20"/>
              </a:lnSpc>
              <a:spcBef>
                <a:spcPct val="0"/>
              </a:spcBef>
            </a:pPr>
            <a:r>
              <a:rPr lang="en-US" sz="5600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Findings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845862" y="3455185"/>
            <a:ext cx="6236127" cy="2092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0"/>
              </a:lnSpc>
            </a:pPr>
            <a:r>
              <a:rPr lang="en-US" sz="23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Higher number of purchases tend to occur </a:t>
            </a:r>
          </a:p>
          <a:p>
            <a:pPr algn="l">
              <a:lnSpc>
                <a:spcPts val="3330"/>
              </a:lnSpc>
            </a:pPr>
            <a:endParaRPr lang="en-US" sz="2378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513613" lvl="1" indent="-256807" algn="l">
              <a:lnSpc>
                <a:spcPts val="3330"/>
              </a:lnSpc>
              <a:buFont typeface="Arial"/>
              <a:buChar char="•"/>
            </a:pPr>
            <a:r>
              <a:rPr lang="en-US" sz="23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closer to </a:t>
            </a:r>
            <a:r>
              <a:rPr lang="en-US" sz="2378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major holidays</a:t>
            </a:r>
          </a:p>
          <a:p>
            <a:pPr marL="513613" lvl="1" indent="-256807" algn="l">
              <a:lnSpc>
                <a:spcPts val="3330"/>
              </a:lnSpc>
              <a:spcBef>
                <a:spcPct val="0"/>
              </a:spcBef>
              <a:buFont typeface="Arial"/>
              <a:buChar char="•"/>
            </a:pPr>
            <a:r>
              <a:rPr lang="en-US" sz="23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during the </a:t>
            </a:r>
            <a:r>
              <a:rPr lang="en-US" sz="2378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summer months </a:t>
            </a:r>
            <a:r>
              <a:rPr lang="en-US" sz="23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when school is not in session (May – August)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30536" y="1761814"/>
            <a:ext cx="8213464" cy="7182936"/>
          </a:xfrm>
          <a:custGeom>
            <a:avLst/>
            <a:gdLst/>
            <a:ahLst/>
            <a:cxnLst/>
            <a:rect l="l" t="t" r="r" b="b"/>
            <a:pathLst>
              <a:path w="8213464" h="7182936">
                <a:moveTo>
                  <a:pt x="0" y="0"/>
                </a:moveTo>
                <a:lnTo>
                  <a:pt x="8213464" y="0"/>
                </a:lnTo>
                <a:lnTo>
                  <a:pt x="8213464" y="7182936"/>
                </a:lnTo>
                <a:lnTo>
                  <a:pt x="0" y="71829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845862" y="2215465"/>
            <a:ext cx="5467904" cy="861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20"/>
              </a:lnSpc>
              <a:spcBef>
                <a:spcPct val="0"/>
              </a:spcBef>
            </a:pPr>
            <a:r>
              <a:rPr lang="en-US" sz="5600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Findings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845862" y="3455185"/>
            <a:ext cx="6236127" cy="1673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0"/>
              </a:lnSpc>
            </a:pPr>
            <a:r>
              <a:rPr lang="en-US" sz="23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Lowest number of purchases tend to occur</a:t>
            </a:r>
          </a:p>
          <a:p>
            <a:pPr marL="513613" lvl="1" indent="-256807" algn="l">
              <a:lnSpc>
                <a:spcPts val="3330"/>
              </a:lnSpc>
              <a:buFont typeface="Arial"/>
              <a:buChar char="•"/>
            </a:pPr>
            <a:r>
              <a:rPr lang="en-US" sz="2378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Q1 </a:t>
            </a:r>
            <a:r>
              <a:rPr lang="en-US" sz="23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(Jan – Mar) </a:t>
            </a:r>
          </a:p>
          <a:p>
            <a:pPr marL="513613" lvl="1" indent="-256807" algn="l">
              <a:lnSpc>
                <a:spcPts val="3330"/>
              </a:lnSpc>
              <a:buFont typeface="Arial"/>
              <a:buChar char="•"/>
            </a:pPr>
            <a:r>
              <a:rPr lang="en-US" sz="2378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Q4</a:t>
            </a:r>
            <a:r>
              <a:rPr lang="en-US" sz="23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(Oct – Dec)</a:t>
            </a:r>
          </a:p>
          <a:p>
            <a:pPr marL="0" lvl="0" indent="0" algn="l">
              <a:lnSpc>
                <a:spcPts val="3330"/>
              </a:lnSpc>
              <a:spcBef>
                <a:spcPct val="0"/>
              </a:spcBef>
            </a:pPr>
            <a:endParaRPr lang="en-US" sz="2378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93891" y="686156"/>
            <a:ext cx="7009174" cy="8914688"/>
          </a:xfrm>
          <a:custGeom>
            <a:avLst/>
            <a:gdLst/>
            <a:ahLst/>
            <a:cxnLst/>
            <a:rect l="l" t="t" r="r" b="b"/>
            <a:pathLst>
              <a:path w="7009174" h="8914688">
                <a:moveTo>
                  <a:pt x="0" y="0"/>
                </a:moveTo>
                <a:lnTo>
                  <a:pt x="7009174" y="0"/>
                </a:lnTo>
                <a:lnTo>
                  <a:pt x="7009174" y="8914688"/>
                </a:lnTo>
                <a:lnTo>
                  <a:pt x="0" y="8914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845862" y="2215465"/>
            <a:ext cx="5467904" cy="861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20"/>
              </a:lnSpc>
              <a:spcBef>
                <a:spcPct val="0"/>
              </a:spcBef>
            </a:pPr>
            <a:r>
              <a:rPr lang="en-US" sz="5600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Findings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550126" y="3455185"/>
            <a:ext cx="7153712" cy="5864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0"/>
              </a:lnSpc>
            </a:pPr>
            <a:r>
              <a:rPr lang="en-US" sz="23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Higher number of purchases </a:t>
            </a:r>
            <a:r>
              <a:rPr lang="en-US" sz="2378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contain</a:t>
            </a:r>
            <a:r>
              <a:rPr lang="en-US" sz="23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– </a:t>
            </a:r>
          </a:p>
          <a:p>
            <a:pPr marL="513613" lvl="1" indent="-256807" algn="l">
              <a:lnSpc>
                <a:spcPts val="3330"/>
              </a:lnSpc>
              <a:buFont typeface="Arial"/>
              <a:buChar char="•"/>
            </a:pPr>
            <a:r>
              <a:rPr lang="en-US" sz="23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Soft drinks</a:t>
            </a:r>
          </a:p>
          <a:p>
            <a:pPr marL="513613" lvl="1" indent="-256807" algn="l">
              <a:lnSpc>
                <a:spcPts val="3330"/>
              </a:lnSpc>
              <a:buFont typeface="Arial"/>
              <a:buChar char="•"/>
            </a:pPr>
            <a:r>
              <a:rPr lang="en-US" sz="23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Cheese</a:t>
            </a:r>
          </a:p>
          <a:p>
            <a:pPr marL="513613" lvl="1" indent="-256807" algn="l">
              <a:lnSpc>
                <a:spcPts val="3330"/>
              </a:lnSpc>
              <a:buFont typeface="Arial"/>
              <a:buChar char="•"/>
            </a:pPr>
            <a:r>
              <a:rPr lang="en-US" sz="23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Bag snacks</a:t>
            </a:r>
          </a:p>
          <a:p>
            <a:pPr marL="513613" lvl="1" indent="-256807" algn="l">
              <a:lnSpc>
                <a:spcPts val="3330"/>
              </a:lnSpc>
              <a:buFont typeface="Arial"/>
              <a:buChar char="•"/>
            </a:pPr>
            <a:r>
              <a:rPr lang="en-US" sz="23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Baked bread/buns/rolls</a:t>
            </a:r>
          </a:p>
          <a:p>
            <a:pPr marL="513613" lvl="1" indent="-256807" algn="l">
              <a:lnSpc>
                <a:spcPts val="3330"/>
              </a:lnSpc>
              <a:buFont typeface="Arial"/>
              <a:buChar char="•"/>
            </a:pPr>
            <a:r>
              <a:rPr lang="en-US" sz="23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Candy – packaged</a:t>
            </a:r>
          </a:p>
          <a:p>
            <a:pPr algn="l">
              <a:lnSpc>
                <a:spcPts val="3330"/>
              </a:lnSpc>
            </a:pPr>
            <a:endParaRPr lang="en-US" sz="2378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algn="l">
              <a:lnSpc>
                <a:spcPts val="3330"/>
              </a:lnSpc>
            </a:pPr>
            <a:r>
              <a:rPr lang="en-US" sz="23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Higher number of purchases </a:t>
            </a:r>
            <a:r>
              <a:rPr lang="en-US" sz="2378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tend to not contain</a:t>
            </a:r>
            <a:r>
              <a:rPr lang="en-US" sz="23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– </a:t>
            </a:r>
          </a:p>
          <a:p>
            <a:pPr marL="513613" lvl="1" indent="-256807" algn="l">
              <a:lnSpc>
                <a:spcPts val="3330"/>
              </a:lnSpc>
              <a:buFont typeface="Arial"/>
              <a:buChar char="•"/>
            </a:pPr>
            <a:r>
              <a:rPr lang="en-US" sz="23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Miscellaneous seafood</a:t>
            </a:r>
          </a:p>
          <a:p>
            <a:pPr marL="513613" lvl="1" indent="-256807" algn="l">
              <a:lnSpc>
                <a:spcPts val="3330"/>
              </a:lnSpc>
              <a:buFont typeface="Arial"/>
              <a:buChar char="•"/>
            </a:pPr>
            <a:r>
              <a:rPr lang="en-US" sz="23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Tomatoes</a:t>
            </a:r>
          </a:p>
          <a:p>
            <a:pPr marL="513613" lvl="1" indent="-256807" algn="l">
              <a:lnSpc>
                <a:spcPts val="3330"/>
              </a:lnSpc>
              <a:buFont typeface="Arial"/>
              <a:buChar char="•"/>
            </a:pPr>
            <a:r>
              <a:rPr lang="en-US" sz="23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Stationery and school supplies</a:t>
            </a:r>
          </a:p>
          <a:p>
            <a:pPr marL="513613" lvl="1" indent="-256807" algn="l">
              <a:lnSpc>
                <a:spcPts val="3330"/>
              </a:lnSpc>
              <a:buFont typeface="Arial"/>
              <a:buChar char="•"/>
            </a:pPr>
            <a:r>
              <a:rPr lang="en-US" sz="23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Water</a:t>
            </a:r>
          </a:p>
          <a:p>
            <a:pPr marL="513613" lvl="1" indent="-256807" algn="l">
              <a:lnSpc>
                <a:spcPts val="3330"/>
              </a:lnSpc>
              <a:buFont typeface="Arial"/>
              <a:buChar char="•"/>
            </a:pPr>
            <a:r>
              <a:rPr lang="en-US" sz="23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yogurt</a:t>
            </a:r>
          </a:p>
          <a:p>
            <a:pPr marL="0" lvl="0" indent="0" algn="l">
              <a:lnSpc>
                <a:spcPts val="3330"/>
              </a:lnSpc>
              <a:spcBef>
                <a:spcPct val="0"/>
              </a:spcBef>
            </a:pPr>
            <a:endParaRPr lang="en-US" sz="2378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224012" y="787501"/>
            <a:ext cx="4398847" cy="241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30"/>
              </a:lnSpc>
              <a:spcBef>
                <a:spcPct val="0"/>
              </a:spcBef>
            </a:pPr>
            <a:r>
              <a:rPr lang="en-US" sz="13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highest number of purchases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24012" y="1235768"/>
            <a:ext cx="4398847" cy="241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30"/>
              </a:lnSpc>
              <a:spcBef>
                <a:spcPct val="0"/>
              </a:spcBef>
            </a:pPr>
            <a:r>
              <a:rPr lang="en-US" sz="13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lowest number of purchases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24012" y="1796365"/>
            <a:ext cx="4398847" cy="241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30"/>
              </a:lnSpc>
              <a:spcBef>
                <a:spcPct val="0"/>
              </a:spcBef>
            </a:pPr>
            <a:r>
              <a:rPr lang="en-US" sz="13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major American holidays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06011" y="1673198"/>
            <a:ext cx="6938179" cy="6940603"/>
            <a:chOff x="0" y="0"/>
            <a:chExt cx="9250905" cy="9254138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16699" r="16699"/>
            <a:stretch>
              <a:fillRect/>
            </a:stretch>
          </p:blipFill>
          <p:spPr>
            <a:xfrm>
              <a:off x="0" y="0"/>
              <a:ext cx="9250905" cy="9254138"/>
            </a:xfrm>
            <a:prstGeom prst="rect">
              <a:avLst/>
            </a:prstGeom>
          </p:spPr>
        </p:pic>
      </p:grpSp>
      <p:sp>
        <p:nvSpPr>
          <p:cNvPr id="4" name="TextBox 4"/>
          <p:cNvSpPr txBox="1"/>
          <p:nvPr/>
        </p:nvSpPr>
        <p:spPr>
          <a:xfrm>
            <a:off x="9845862" y="2215465"/>
            <a:ext cx="7638549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20"/>
              </a:lnSpc>
              <a:spcBef>
                <a:spcPct val="0"/>
              </a:spcBef>
            </a:pPr>
            <a:r>
              <a:rPr lang="en-US" sz="5600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Insight for Businesses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845862" y="3464710"/>
            <a:ext cx="7638549" cy="6088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0"/>
              </a:lnSpc>
            </a:pPr>
            <a:r>
              <a:rPr lang="en-US" sz="21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Grocery stores should </a:t>
            </a:r>
            <a:r>
              <a:rPr lang="en-US" sz="2178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increase stock</a:t>
            </a:r>
            <a:r>
              <a:rPr lang="en-US" sz="21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of </a:t>
            </a:r>
          </a:p>
          <a:p>
            <a:pPr marL="470434" lvl="1" indent="-235217" algn="l">
              <a:lnSpc>
                <a:spcPts val="3050"/>
              </a:lnSpc>
              <a:buFont typeface="Arial"/>
              <a:buChar char="•"/>
            </a:pPr>
            <a:r>
              <a:rPr lang="en-US" sz="21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Soft drinks</a:t>
            </a:r>
          </a:p>
          <a:p>
            <a:pPr marL="470434" lvl="1" indent="-235217" algn="l">
              <a:lnSpc>
                <a:spcPts val="3050"/>
              </a:lnSpc>
              <a:buFont typeface="Arial"/>
              <a:buChar char="•"/>
            </a:pPr>
            <a:r>
              <a:rPr lang="en-US" sz="21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Cheese</a:t>
            </a:r>
          </a:p>
          <a:p>
            <a:pPr marL="470434" lvl="1" indent="-235217" algn="l">
              <a:lnSpc>
                <a:spcPts val="3050"/>
              </a:lnSpc>
              <a:buFont typeface="Arial"/>
              <a:buChar char="•"/>
            </a:pPr>
            <a:r>
              <a:rPr lang="en-US" sz="21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Bag snacks</a:t>
            </a:r>
          </a:p>
          <a:p>
            <a:pPr marL="470434" lvl="1" indent="-235217" algn="l">
              <a:lnSpc>
                <a:spcPts val="3050"/>
              </a:lnSpc>
              <a:buFont typeface="Arial"/>
              <a:buChar char="•"/>
            </a:pPr>
            <a:r>
              <a:rPr lang="en-US" sz="21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Baked bread, buns, rolls</a:t>
            </a:r>
          </a:p>
          <a:p>
            <a:pPr marL="470434" lvl="1" indent="-235217" algn="l">
              <a:lnSpc>
                <a:spcPts val="3050"/>
              </a:lnSpc>
              <a:buFont typeface="Arial"/>
              <a:buChar char="•"/>
            </a:pPr>
            <a:r>
              <a:rPr lang="en-US" sz="21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Packaged candy</a:t>
            </a:r>
          </a:p>
          <a:p>
            <a:pPr algn="l">
              <a:lnSpc>
                <a:spcPts val="3050"/>
              </a:lnSpc>
            </a:pPr>
            <a:r>
              <a:rPr lang="en-US" sz="21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Closer to </a:t>
            </a:r>
            <a:r>
              <a:rPr lang="en-US" sz="2178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major holidays</a:t>
            </a:r>
            <a:r>
              <a:rPr lang="en-US" sz="21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and during the </a:t>
            </a:r>
            <a:r>
              <a:rPr lang="en-US" sz="2178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summer months</a:t>
            </a:r>
          </a:p>
          <a:p>
            <a:pPr algn="l">
              <a:lnSpc>
                <a:spcPts val="3050"/>
              </a:lnSpc>
            </a:pPr>
            <a:endParaRPr lang="en-US" sz="2178" b="1">
              <a:solidFill>
                <a:srgbClr val="000000"/>
              </a:solidFill>
              <a:latin typeface="Raleway Bold"/>
              <a:ea typeface="Raleway Bold"/>
              <a:cs typeface="Raleway Bold"/>
              <a:sym typeface="Raleway Bold"/>
            </a:endParaRPr>
          </a:p>
          <a:p>
            <a:pPr algn="l">
              <a:lnSpc>
                <a:spcPts val="3050"/>
              </a:lnSpc>
            </a:pPr>
            <a:r>
              <a:rPr lang="en-US" sz="21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Grocery stores should </a:t>
            </a:r>
            <a:r>
              <a:rPr lang="en-US" sz="2178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decrease stock</a:t>
            </a:r>
            <a:r>
              <a:rPr lang="en-US" sz="21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of </a:t>
            </a:r>
          </a:p>
          <a:p>
            <a:pPr marL="470434" lvl="1" indent="-235217" algn="l">
              <a:lnSpc>
                <a:spcPts val="3050"/>
              </a:lnSpc>
              <a:buFont typeface="Arial"/>
              <a:buChar char="•"/>
            </a:pPr>
            <a:r>
              <a:rPr lang="en-US" sz="21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Miscellaneous seafood</a:t>
            </a:r>
          </a:p>
          <a:p>
            <a:pPr marL="470434" lvl="1" indent="-235217" algn="l">
              <a:lnSpc>
                <a:spcPts val="3050"/>
              </a:lnSpc>
              <a:buFont typeface="Arial"/>
              <a:buChar char="•"/>
            </a:pPr>
            <a:r>
              <a:rPr lang="en-US" sz="21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Tomatoes</a:t>
            </a:r>
          </a:p>
          <a:p>
            <a:pPr marL="470434" lvl="1" indent="-235217" algn="l">
              <a:lnSpc>
                <a:spcPts val="3050"/>
              </a:lnSpc>
              <a:buFont typeface="Arial"/>
              <a:buChar char="•"/>
            </a:pPr>
            <a:r>
              <a:rPr lang="en-US" sz="21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Stationery and school supplies</a:t>
            </a:r>
          </a:p>
          <a:p>
            <a:pPr marL="470434" lvl="1" indent="-235217" algn="l">
              <a:lnSpc>
                <a:spcPts val="3050"/>
              </a:lnSpc>
              <a:buFont typeface="Arial"/>
              <a:buChar char="•"/>
            </a:pPr>
            <a:r>
              <a:rPr lang="en-US" sz="21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Water</a:t>
            </a:r>
          </a:p>
          <a:p>
            <a:pPr marL="470434" lvl="1" indent="-235217" algn="l">
              <a:lnSpc>
                <a:spcPts val="3050"/>
              </a:lnSpc>
              <a:buFont typeface="Arial"/>
              <a:buChar char="•"/>
            </a:pPr>
            <a:r>
              <a:rPr lang="en-US" sz="21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yogurt</a:t>
            </a:r>
          </a:p>
          <a:p>
            <a:pPr algn="l">
              <a:lnSpc>
                <a:spcPts val="3050"/>
              </a:lnSpc>
            </a:pPr>
            <a:r>
              <a:rPr lang="en-US" sz="21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Closer to </a:t>
            </a:r>
            <a:r>
              <a:rPr lang="en-US" sz="2178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major holidays</a:t>
            </a:r>
            <a:r>
              <a:rPr lang="en-US" sz="21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and during </a:t>
            </a:r>
            <a:r>
              <a:rPr lang="en-US" sz="2178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summer months</a:t>
            </a:r>
          </a:p>
          <a:p>
            <a:pPr marL="0" lvl="0" indent="0" algn="l">
              <a:lnSpc>
                <a:spcPts val="3050"/>
              </a:lnSpc>
              <a:spcBef>
                <a:spcPct val="0"/>
              </a:spcBef>
            </a:pPr>
            <a:endParaRPr lang="en-US" sz="2178" b="1">
              <a:solidFill>
                <a:srgbClr val="000000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143173"/>
            <a:ext cx="18288000" cy="6000653"/>
            <a:chOff x="0" y="0"/>
            <a:chExt cx="4816593" cy="15804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580419"/>
            </a:xfrm>
            <a:custGeom>
              <a:avLst/>
              <a:gdLst/>
              <a:ahLst/>
              <a:cxnLst/>
              <a:rect l="l" t="t" r="r" b="b"/>
              <a:pathLst>
                <a:path w="4816592" h="1580419">
                  <a:moveTo>
                    <a:pt x="0" y="0"/>
                  </a:moveTo>
                  <a:lnTo>
                    <a:pt x="4816592" y="0"/>
                  </a:lnTo>
                  <a:lnTo>
                    <a:pt x="4816592" y="1580419"/>
                  </a:lnTo>
                  <a:lnTo>
                    <a:pt x="0" y="1580419"/>
                  </a:lnTo>
                  <a:close/>
                </a:path>
              </a:pathLst>
            </a:custGeom>
            <a:solidFill>
              <a:srgbClr val="BBD8D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1637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354259" y="3274551"/>
            <a:ext cx="9579481" cy="2393655"/>
            <a:chOff x="0" y="0"/>
            <a:chExt cx="2522991" cy="63042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22991" cy="630428"/>
            </a:xfrm>
            <a:custGeom>
              <a:avLst/>
              <a:gdLst/>
              <a:ahLst/>
              <a:cxnLst/>
              <a:rect l="l" t="t" r="r" b="b"/>
              <a:pathLst>
                <a:path w="2522991" h="630428">
                  <a:moveTo>
                    <a:pt x="0" y="0"/>
                  </a:moveTo>
                  <a:lnTo>
                    <a:pt x="2522991" y="0"/>
                  </a:lnTo>
                  <a:lnTo>
                    <a:pt x="2522991" y="630428"/>
                  </a:lnTo>
                  <a:lnTo>
                    <a:pt x="0" y="6304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522991" cy="6399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8399"/>
                </a:lnSpc>
                <a:spcBef>
                  <a:spcPct val="0"/>
                </a:spcBef>
              </a:pPr>
              <a:r>
                <a:rPr lang="en-US" sz="6999" b="1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Insight 2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906679" y="5958769"/>
            <a:ext cx="10474643" cy="2012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30"/>
              </a:lnSpc>
              <a:spcBef>
                <a:spcPct val="0"/>
              </a:spcBef>
            </a:pPr>
            <a:r>
              <a:rPr lang="en-US" sz="28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Are there </a:t>
            </a:r>
            <a:r>
              <a:rPr lang="en-US" sz="2878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advertisement events</a:t>
            </a:r>
            <a:r>
              <a:rPr lang="en-US" sz="28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that coincide with high item purchasing dates? Where are these </a:t>
            </a:r>
            <a:r>
              <a:rPr lang="en-US" sz="2878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items’ display locations</a:t>
            </a:r>
            <a:r>
              <a:rPr lang="en-US" sz="28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? Are items purchased most on </a:t>
            </a:r>
            <a:r>
              <a:rPr lang="en-US" sz="2878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low purchasing dates</a:t>
            </a:r>
            <a:r>
              <a:rPr lang="en-US" sz="28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from similar display locations?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5181" y="2087482"/>
            <a:ext cx="7808819" cy="6626310"/>
          </a:xfrm>
          <a:custGeom>
            <a:avLst/>
            <a:gdLst/>
            <a:ahLst/>
            <a:cxnLst/>
            <a:rect l="l" t="t" r="r" b="b"/>
            <a:pathLst>
              <a:path w="7808819" h="6626310">
                <a:moveTo>
                  <a:pt x="0" y="0"/>
                </a:moveTo>
                <a:lnTo>
                  <a:pt x="7808819" y="0"/>
                </a:lnTo>
                <a:lnTo>
                  <a:pt x="7808819" y="6626310"/>
                </a:lnTo>
                <a:lnTo>
                  <a:pt x="0" y="66263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845862" y="2215465"/>
            <a:ext cx="5467904" cy="861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20"/>
              </a:lnSpc>
              <a:spcBef>
                <a:spcPct val="0"/>
              </a:spcBef>
            </a:pPr>
            <a:r>
              <a:rPr lang="en-US" sz="5600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Findings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845862" y="3455185"/>
            <a:ext cx="6236127" cy="544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0"/>
              </a:lnSpc>
            </a:pPr>
            <a:r>
              <a:rPr lang="en-US" sz="2378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Dates that coincide with </a:t>
            </a:r>
            <a:r>
              <a:rPr lang="en-US" sz="2378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total number of coupon campaigns</a:t>
            </a:r>
            <a:r>
              <a:rPr lang="en-US" sz="2378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– </a:t>
            </a:r>
          </a:p>
          <a:p>
            <a:pPr marL="513613" lvl="1" indent="-256807" algn="l">
              <a:lnSpc>
                <a:spcPts val="3330"/>
              </a:lnSpc>
              <a:buFont typeface="Arial"/>
              <a:buChar char="•"/>
            </a:pPr>
            <a:r>
              <a:rPr lang="en-US" sz="2378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June 30 – 6 </a:t>
            </a:r>
          </a:p>
          <a:p>
            <a:pPr marL="513613" lvl="1" indent="-256807" algn="l">
              <a:lnSpc>
                <a:spcPts val="3330"/>
              </a:lnSpc>
              <a:buFont typeface="Arial"/>
              <a:buChar char="•"/>
            </a:pPr>
            <a:r>
              <a:rPr lang="en-US" sz="2378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March 4 – 97 </a:t>
            </a:r>
          </a:p>
          <a:p>
            <a:pPr marL="513613" lvl="1" indent="-256807" algn="l">
              <a:lnSpc>
                <a:spcPts val="3330"/>
              </a:lnSpc>
              <a:buFont typeface="Arial"/>
              <a:buChar char="•"/>
            </a:pPr>
            <a:r>
              <a:rPr lang="en-US" sz="2378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May 24 – 210</a:t>
            </a:r>
          </a:p>
          <a:p>
            <a:pPr algn="l">
              <a:lnSpc>
                <a:spcPts val="3330"/>
              </a:lnSpc>
            </a:pPr>
            <a:endParaRPr lang="en-US" sz="2378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algn="l">
              <a:lnSpc>
                <a:spcPts val="3330"/>
              </a:lnSpc>
            </a:pPr>
            <a:r>
              <a:rPr lang="en-US" sz="2378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Top products bought</a:t>
            </a:r>
            <a:r>
              <a:rPr lang="en-US" sz="2378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–</a:t>
            </a:r>
          </a:p>
          <a:p>
            <a:pPr marL="513613" lvl="1" indent="-256807" algn="l">
              <a:lnSpc>
                <a:spcPts val="3330"/>
              </a:lnSpc>
              <a:buFont typeface="Arial"/>
              <a:buChar char="•"/>
            </a:pPr>
            <a:r>
              <a:rPr lang="en-US" sz="2378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Milk</a:t>
            </a:r>
          </a:p>
          <a:p>
            <a:pPr marL="513613" lvl="1" indent="-256807" algn="l">
              <a:lnSpc>
                <a:spcPts val="3330"/>
              </a:lnSpc>
              <a:buFont typeface="Arial"/>
              <a:buChar char="•"/>
            </a:pPr>
            <a:r>
              <a:rPr lang="en-US" sz="2378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Frozen premium entrees, dinners</a:t>
            </a:r>
          </a:p>
          <a:p>
            <a:pPr marL="513613" lvl="1" indent="-256807" algn="l">
              <a:lnSpc>
                <a:spcPts val="3330"/>
              </a:lnSpc>
              <a:buFont typeface="Arial"/>
              <a:buChar char="•"/>
            </a:pPr>
            <a:r>
              <a:rPr lang="en-US" sz="2378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Single cheese</a:t>
            </a:r>
          </a:p>
          <a:p>
            <a:pPr marL="513613" lvl="1" indent="-256807" algn="l">
              <a:lnSpc>
                <a:spcPts val="3330"/>
              </a:lnSpc>
              <a:buFont typeface="Arial"/>
              <a:buChar char="•"/>
            </a:pPr>
            <a:r>
              <a:rPr lang="en-US" sz="2378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Shredded cheese</a:t>
            </a:r>
          </a:p>
          <a:p>
            <a:pPr marL="513613" lvl="1" indent="-256807" algn="l">
              <a:lnSpc>
                <a:spcPts val="3330"/>
              </a:lnSpc>
              <a:buFont typeface="Arial"/>
              <a:buChar char="•"/>
            </a:pPr>
            <a:r>
              <a:rPr lang="en-US" sz="2378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Frozen French fries</a:t>
            </a:r>
          </a:p>
          <a:p>
            <a:pPr marL="0" lvl="0" indent="0" algn="l">
              <a:lnSpc>
                <a:spcPts val="3330"/>
              </a:lnSpc>
              <a:spcBef>
                <a:spcPct val="0"/>
              </a:spcBef>
            </a:pPr>
            <a:endParaRPr lang="en-US" sz="2378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33501" y="1266317"/>
            <a:ext cx="7294621" cy="7754366"/>
          </a:xfrm>
          <a:custGeom>
            <a:avLst/>
            <a:gdLst/>
            <a:ahLst/>
            <a:cxnLst/>
            <a:rect l="l" t="t" r="r" b="b"/>
            <a:pathLst>
              <a:path w="7294621" h="7754366">
                <a:moveTo>
                  <a:pt x="0" y="0"/>
                </a:moveTo>
                <a:lnTo>
                  <a:pt x="7294621" y="0"/>
                </a:lnTo>
                <a:lnTo>
                  <a:pt x="7294621" y="7754366"/>
                </a:lnTo>
                <a:lnTo>
                  <a:pt x="0" y="77543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845862" y="1494409"/>
            <a:ext cx="6881347" cy="1713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20"/>
              </a:lnSpc>
              <a:spcBef>
                <a:spcPct val="0"/>
              </a:spcBef>
            </a:pPr>
            <a:r>
              <a:rPr lang="en-US" sz="5600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Findings - High Item Purchasing Dates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845862" y="3455185"/>
            <a:ext cx="6236127" cy="251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0"/>
              </a:lnSpc>
            </a:pPr>
            <a:r>
              <a:rPr lang="en-US" sz="2378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Top product locations</a:t>
            </a:r>
            <a:r>
              <a:rPr lang="en-US" sz="23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– </a:t>
            </a:r>
          </a:p>
          <a:p>
            <a:pPr marL="513613" lvl="1" indent="-256807" algn="l">
              <a:lnSpc>
                <a:spcPts val="3330"/>
              </a:lnSpc>
              <a:buFont typeface="Arial"/>
              <a:buChar char="•"/>
            </a:pPr>
            <a:r>
              <a:rPr lang="en-US" sz="23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Rear end cap - 78</a:t>
            </a:r>
          </a:p>
          <a:p>
            <a:pPr marL="513613" lvl="1" indent="-256807" algn="l">
              <a:lnSpc>
                <a:spcPts val="3330"/>
              </a:lnSpc>
              <a:buFont typeface="Arial"/>
              <a:buChar char="•"/>
            </a:pPr>
            <a:r>
              <a:rPr lang="en-US" sz="23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In-Aisle - 63</a:t>
            </a:r>
          </a:p>
          <a:p>
            <a:pPr marL="513613" lvl="1" indent="-256807" algn="l">
              <a:lnSpc>
                <a:spcPts val="3330"/>
              </a:lnSpc>
              <a:buFont typeface="Arial"/>
              <a:buChar char="•"/>
            </a:pPr>
            <a:r>
              <a:rPr lang="en-US" sz="23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Other Location Display - 61</a:t>
            </a:r>
          </a:p>
          <a:p>
            <a:pPr marL="513613" lvl="1" indent="-256807" algn="l">
              <a:lnSpc>
                <a:spcPts val="3330"/>
              </a:lnSpc>
              <a:buFont typeface="Arial"/>
              <a:buChar char="•"/>
            </a:pPr>
            <a:r>
              <a:rPr lang="en-US" sz="23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Front End Cap - 60</a:t>
            </a:r>
          </a:p>
          <a:p>
            <a:pPr marL="0" lvl="0" indent="0" algn="l">
              <a:lnSpc>
                <a:spcPts val="3330"/>
              </a:lnSpc>
              <a:spcBef>
                <a:spcPct val="0"/>
              </a:spcBef>
            </a:pPr>
            <a:endParaRPr lang="en-US" sz="2378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50485" y="1503934"/>
            <a:ext cx="7062452" cy="7484324"/>
          </a:xfrm>
          <a:custGeom>
            <a:avLst/>
            <a:gdLst/>
            <a:ahLst/>
            <a:cxnLst/>
            <a:rect l="l" t="t" r="r" b="b"/>
            <a:pathLst>
              <a:path w="7062452" h="7484324">
                <a:moveTo>
                  <a:pt x="0" y="0"/>
                </a:moveTo>
                <a:lnTo>
                  <a:pt x="7062452" y="0"/>
                </a:lnTo>
                <a:lnTo>
                  <a:pt x="7062452" y="7484324"/>
                </a:lnTo>
                <a:lnTo>
                  <a:pt x="0" y="7484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9845862" y="1494409"/>
            <a:ext cx="7413438" cy="1713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20"/>
              </a:lnSpc>
              <a:spcBef>
                <a:spcPct val="0"/>
              </a:spcBef>
            </a:pPr>
            <a:r>
              <a:rPr lang="en-US" sz="5600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Findings - Low Item Purchasing Dates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845862" y="3455185"/>
            <a:ext cx="6236127" cy="4180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0"/>
              </a:lnSpc>
            </a:pPr>
            <a:r>
              <a:rPr lang="en-US" sz="2378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Top product locations</a:t>
            </a:r>
            <a:r>
              <a:rPr lang="en-US" sz="2378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– </a:t>
            </a:r>
          </a:p>
          <a:p>
            <a:pPr marL="513613" lvl="1" indent="-256807" algn="l">
              <a:lnSpc>
                <a:spcPts val="3330"/>
              </a:lnSpc>
              <a:buFont typeface="Arial"/>
              <a:buChar char="•"/>
            </a:pPr>
            <a:r>
              <a:rPr lang="en-US" sz="2378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In-aisle - 94</a:t>
            </a:r>
          </a:p>
          <a:p>
            <a:pPr marL="513613" lvl="1" indent="-256807" algn="l">
              <a:lnSpc>
                <a:spcPts val="3330"/>
              </a:lnSpc>
              <a:buFont typeface="Arial"/>
              <a:buChar char="•"/>
            </a:pPr>
            <a:r>
              <a:rPr lang="en-US" sz="2378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Other location display - 94</a:t>
            </a:r>
          </a:p>
          <a:p>
            <a:pPr marL="513613" lvl="1" indent="-256807" algn="l">
              <a:lnSpc>
                <a:spcPts val="3330"/>
              </a:lnSpc>
              <a:buFont typeface="Arial"/>
              <a:buChar char="•"/>
            </a:pPr>
            <a:r>
              <a:rPr lang="en-US" sz="2378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Side-aisle end cap - 47</a:t>
            </a:r>
          </a:p>
          <a:p>
            <a:pPr algn="l">
              <a:lnSpc>
                <a:spcPts val="3330"/>
              </a:lnSpc>
            </a:pPr>
            <a:endParaRPr lang="en-US" sz="2378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algn="l">
              <a:lnSpc>
                <a:spcPts val="3330"/>
              </a:lnSpc>
            </a:pPr>
            <a:endParaRPr lang="en-US" sz="2378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algn="l">
              <a:lnSpc>
                <a:spcPts val="3330"/>
              </a:lnSpc>
            </a:pPr>
            <a:endParaRPr lang="en-US" sz="2378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algn="l">
              <a:lnSpc>
                <a:spcPts val="3330"/>
              </a:lnSpc>
            </a:pPr>
            <a:endParaRPr lang="en-US" sz="2378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algn="l">
              <a:lnSpc>
                <a:spcPts val="3330"/>
              </a:lnSpc>
            </a:pPr>
            <a:endParaRPr lang="en-US" sz="2378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>
              <a:lnSpc>
                <a:spcPts val="3330"/>
              </a:lnSpc>
              <a:spcBef>
                <a:spcPct val="0"/>
              </a:spcBef>
            </a:pPr>
            <a:endParaRPr lang="en-US" sz="1778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06011" y="1673198"/>
            <a:ext cx="6938179" cy="6940603"/>
            <a:chOff x="0" y="0"/>
            <a:chExt cx="9250905" cy="9254138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16699" r="16699"/>
            <a:stretch>
              <a:fillRect/>
            </a:stretch>
          </p:blipFill>
          <p:spPr>
            <a:xfrm>
              <a:off x="0" y="0"/>
              <a:ext cx="9250905" cy="9254138"/>
            </a:xfrm>
            <a:prstGeom prst="rect">
              <a:avLst/>
            </a:prstGeom>
          </p:spPr>
        </p:pic>
      </p:grpSp>
      <p:sp>
        <p:nvSpPr>
          <p:cNvPr id="4" name="TextBox 4"/>
          <p:cNvSpPr txBox="1"/>
          <p:nvPr/>
        </p:nvSpPr>
        <p:spPr>
          <a:xfrm>
            <a:off x="9845862" y="2215465"/>
            <a:ext cx="7638549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20"/>
              </a:lnSpc>
              <a:spcBef>
                <a:spcPct val="0"/>
              </a:spcBef>
            </a:pPr>
            <a:r>
              <a:rPr lang="en-US" sz="5600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Insight for Businesses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845862" y="3464710"/>
            <a:ext cx="7638549" cy="4564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0"/>
              </a:lnSpc>
            </a:pPr>
            <a:r>
              <a:rPr lang="en-US" sz="21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Grocery stores should prioritize keeping </a:t>
            </a:r>
            <a:r>
              <a:rPr lang="en-US" sz="2178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consistent, year-round stock</a:t>
            </a:r>
            <a:r>
              <a:rPr lang="en-US" sz="21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of items located in</a:t>
            </a:r>
          </a:p>
          <a:p>
            <a:pPr marL="470434" lvl="1" indent="-235217" algn="l">
              <a:lnSpc>
                <a:spcPts val="3050"/>
              </a:lnSpc>
              <a:buFont typeface="Arial"/>
              <a:buChar char="•"/>
            </a:pPr>
            <a:r>
              <a:rPr lang="en-US" sz="21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 aisles</a:t>
            </a:r>
          </a:p>
          <a:p>
            <a:pPr marL="470434" lvl="1" indent="-235217" algn="l">
              <a:lnSpc>
                <a:spcPts val="3050"/>
              </a:lnSpc>
              <a:buFont typeface="Arial"/>
              <a:buChar char="•"/>
            </a:pPr>
            <a:r>
              <a:rPr lang="en-US" sz="21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Other location displays</a:t>
            </a:r>
          </a:p>
          <a:p>
            <a:pPr algn="l">
              <a:lnSpc>
                <a:spcPts val="3050"/>
              </a:lnSpc>
            </a:pPr>
            <a:endParaRPr lang="en-US" sz="2178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algn="l">
              <a:lnSpc>
                <a:spcPts val="3050"/>
              </a:lnSpc>
            </a:pPr>
            <a:r>
              <a:rPr lang="en-US" sz="21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Grocery stores should also emphasize </a:t>
            </a:r>
            <a:r>
              <a:rPr lang="en-US" sz="2178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increasing stock</a:t>
            </a:r>
            <a:r>
              <a:rPr lang="en-US" sz="21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of the following items when </a:t>
            </a:r>
            <a:r>
              <a:rPr lang="en-US" sz="2178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coupon events occur during high purchasing times</a:t>
            </a:r>
            <a:r>
              <a:rPr lang="en-US" sz="21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-</a:t>
            </a:r>
          </a:p>
          <a:p>
            <a:pPr marL="470434" lvl="1" indent="-235217" algn="l">
              <a:lnSpc>
                <a:spcPts val="3050"/>
              </a:lnSpc>
              <a:buFont typeface="Arial"/>
              <a:buChar char="•"/>
            </a:pPr>
            <a:r>
              <a:rPr lang="en-US" sz="21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Milk</a:t>
            </a:r>
          </a:p>
          <a:p>
            <a:pPr marL="470434" lvl="1" indent="-235217" algn="l">
              <a:lnSpc>
                <a:spcPts val="3050"/>
              </a:lnSpc>
              <a:buFont typeface="Arial"/>
              <a:buChar char="•"/>
            </a:pPr>
            <a:r>
              <a:rPr lang="en-US" sz="21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Frozen dinners</a:t>
            </a:r>
          </a:p>
          <a:p>
            <a:pPr marL="470434" lvl="1" indent="-235217" algn="l">
              <a:lnSpc>
                <a:spcPts val="3050"/>
              </a:lnSpc>
              <a:buFont typeface="Arial"/>
              <a:buChar char="•"/>
            </a:pPr>
            <a:r>
              <a:rPr lang="en-US" sz="21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Cheese</a:t>
            </a:r>
          </a:p>
          <a:p>
            <a:pPr marL="0" lvl="0" indent="0" algn="l">
              <a:lnSpc>
                <a:spcPts val="3050"/>
              </a:lnSpc>
              <a:spcBef>
                <a:spcPct val="0"/>
              </a:spcBef>
            </a:pPr>
            <a:endParaRPr lang="en-US" sz="2178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143173"/>
            <a:ext cx="18288000" cy="6000653"/>
            <a:chOff x="0" y="0"/>
            <a:chExt cx="4816593" cy="15804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580419"/>
            </a:xfrm>
            <a:custGeom>
              <a:avLst/>
              <a:gdLst/>
              <a:ahLst/>
              <a:cxnLst/>
              <a:rect l="l" t="t" r="r" b="b"/>
              <a:pathLst>
                <a:path w="4816592" h="1580419">
                  <a:moveTo>
                    <a:pt x="0" y="0"/>
                  </a:moveTo>
                  <a:lnTo>
                    <a:pt x="4816592" y="0"/>
                  </a:lnTo>
                  <a:lnTo>
                    <a:pt x="4816592" y="1580419"/>
                  </a:lnTo>
                  <a:lnTo>
                    <a:pt x="0" y="1580419"/>
                  </a:lnTo>
                  <a:close/>
                </a:path>
              </a:pathLst>
            </a:custGeom>
            <a:solidFill>
              <a:srgbClr val="BBD8D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1637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354259" y="3274551"/>
            <a:ext cx="9579481" cy="2393655"/>
            <a:chOff x="0" y="0"/>
            <a:chExt cx="2522991" cy="63042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22991" cy="630428"/>
            </a:xfrm>
            <a:custGeom>
              <a:avLst/>
              <a:gdLst/>
              <a:ahLst/>
              <a:cxnLst/>
              <a:rect l="l" t="t" r="r" b="b"/>
              <a:pathLst>
                <a:path w="2522991" h="630428">
                  <a:moveTo>
                    <a:pt x="0" y="0"/>
                  </a:moveTo>
                  <a:lnTo>
                    <a:pt x="2522991" y="0"/>
                  </a:lnTo>
                  <a:lnTo>
                    <a:pt x="2522991" y="630428"/>
                  </a:lnTo>
                  <a:lnTo>
                    <a:pt x="0" y="6304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522991" cy="6399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8399"/>
                </a:lnSpc>
                <a:spcBef>
                  <a:spcPct val="0"/>
                </a:spcBef>
              </a:pPr>
              <a:r>
                <a:rPr lang="en-US" sz="6999" b="1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Insight 3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354259" y="6009249"/>
            <a:ext cx="10001822" cy="150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30"/>
              </a:lnSpc>
              <a:spcBef>
                <a:spcPct val="0"/>
              </a:spcBef>
            </a:pPr>
            <a:r>
              <a:rPr lang="en-US" sz="28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How often does each </a:t>
            </a:r>
            <a:r>
              <a:rPr lang="en-US" sz="2878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age group shop</a:t>
            </a:r>
            <a:r>
              <a:rPr lang="en-US" sz="28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at stores (aka </a:t>
            </a:r>
            <a:r>
              <a:rPr lang="en-US" sz="2878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purchase frequency</a:t>
            </a:r>
            <a:r>
              <a:rPr lang="en-US" sz="28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)? Is this </a:t>
            </a:r>
            <a:r>
              <a:rPr lang="en-US" sz="2878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consistent with other sources</a:t>
            </a:r>
            <a:r>
              <a:rPr lang="en-US" sz="287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9845862" y="848360"/>
            <a:ext cx="7413438" cy="1713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20"/>
              </a:lnSpc>
              <a:spcBef>
                <a:spcPct val="0"/>
              </a:spcBef>
            </a:pPr>
            <a:r>
              <a:rPr lang="en-US" sz="5600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Findings - Acme Dataset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845862" y="3455185"/>
            <a:ext cx="7413438" cy="293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0"/>
              </a:lnSpc>
            </a:pPr>
            <a:r>
              <a:rPr lang="en-US" sz="2378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Acme Dataset – </a:t>
            </a:r>
          </a:p>
          <a:p>
            <a:pPr algn="l">
              <a:lnSpc>
                <a:spcPts val="3330"/>
              </a:lnSpc>
            </a:pPr>
            <a:endParaRPr lang="en-US" sz="2378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513613" lvl="1" indent="-256807" algn="l">
              <a:lnSpc>
                <a:spcPts val="3330"/>
              </a:lnSpc>
              <a:buFont typeface="Arial"/>
              <a:buChar char="•"/>
            </a:pPr>
            <a:r>
              <a:rPr lang="en-US" sz="2378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45-54-year-old</a:t>
            </a:r>
            <a:r>
              <a:rPr lang="en-US" sz="2378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customers have </a:t>
            </a:r>
            <a:r>
              <a:rPr lang="en-US" sz="2378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highest </a:t>
            </a:r>
            <a:r>
              <a:rPr lang="en-US" sz="2378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purchase frequency over one year</a:t>
            </a:r>
          </a:p>
          <a:p>
            <a:pPr marL="513613" lvl="1" indent="-256807" algn="l">
              <a:lnSpc>
                <a:spcPts val="3330"/>
              </a:lnSpc>
              <a:buFont typeface="Arial"/>
              <a:buChar char="•"/>
            </a:pPr>
            <a:r>
              <a:rPr lang="en-US" sz="2378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35-44-year-old</a:t>
            </a:r>
            <a:r>
              <a:rPr lang="en-US" sz="2378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customers have </a:t>
            </a:r>
            <a:r>
              <a:rPr lang="en-US" sz="2378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lowest</a:t>
            </a:r>
            <a:r>
              <a:rPr lang="en-US" sz="2378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purchase frequency over one year</a:t>
            </a:r>
          </a:p>
          <a:p>
            <a:pPr marL="0" lvl="0" indent="0" algn="l">
              <a:lnSpc>
                <a:spcPts val="3330"/>
              </a:lnSpc>
              <a:spcBef>
                <a:spcPct val="0"/>
              </a:spcBef>
            </a:pPr>
            <a:endParaRPr lang="en-US" sz="2378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026" name="Picture 2" descr="Photo wellstocked grocery store aisle with various products">
            <a:extLst>
              <a:ext uri="{FF2B5EF4-FFF2-40B4-BE49-F238E27FC236}">
                <a16:creationId xmlns:a16="http://schemas.microsoft.com/office/drawing/2014/main" id="{E33DF2DB-C694-6134-5C38-F8C735D5C1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9" r="38311"/>
          <a:stretch>
            <a:fillRect/>
          </a:stretch>
        </p:blipFill>
        <p:spPr bwMode="auto">
          <a:xfrm>
            <a:off x="1219200" y="1409700"/>
            <a:ext cx="7374255" cy="746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9845862" y="1524992"/>
            <a:ext cx="7413438" cy="1713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20"/>
              </a:lnSpc>
              <a:spcBef>
                <a:spcPct val="0"/>
              </a:spcBef>
            </a:pPr>
            <a:r>
              <a:rPr lang="en-US" sz="5600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Findings - Outside Dataset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845862" y="3455185"/>
            <a:ext cx="7961810" cy="29295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30"/>
              </a:lnSpc>
            </a:pPr>
            <a:r>
              <a:rPr lang="en-US" sz="2378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Outside Dataset – </a:t>
            </a:r>
          </a:p>
          <a:p>
            <a:pPr algn="l">
              <a:lnSpc>
                <a:spcPts val="3330"/>
              </a:lnSpc>
            </a:pPr>
            <a:endParaRPr lang="en-US" sz="2378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513613" lvl="1" indent="-256807" algn="l">
              <a:lnSpc>
                <a:spcPts val="3330"/>
              </a:lnSpc>
              <a:buFont typeface="Arial"/>
              <a:buChar char="•"/>
            </a:pPr>
            <a:r>
              <a:rPr lang="en-US" sz="2378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55–64-year-old</a:t>
            </a:r>
            <a:r>
              <a:rPr lang="en-US" sz="2378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customers have </a:t>
            </a:r>
            <a:r>
              <a:rPr lang="en-US" sz="2378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highest</a:t>
            </a:r>
            <a:r>
              <a:rPr lang="en-US" sz="2378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purchase frequency over one year</a:t>
            </a:r>
          </a:p>
          <a:p>
            <a:pPr marL="513613" lvl="1" indent="-256807" algn="l">
              <a:lnSpc>
                <a:spcPts val="3330"/>
              </a:lnSpc>
              <a:buFont typeface="Arial"/>
              <a:buChar char="•"/>
            </a:pPr>
            <a:r>
              <a:rPr lang="en-US" sz="2378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&gt; 25-year-old</a:t>
            </a:r>
            <a:r>
              <a:rPr lang="en-US" sz="2378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customers have </a:t>
            </a:r>
            <a:r>
              <a:rPr lang="en-US" sz="2378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lowest</a:t>
            </a:r>
            <a:r>
              <a:rPr lang="en-US" sz="2378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purchase frequency over one year</a:t>
            </a:r>
          </a:p>
          <a:p>
            <a:pPr algn="l">
              <a:lnSpc>
                <a:spcPts val="3330"/>
              </a:lnSpc>
            </a:pPr>
            <a:endParaRPr lang="en-US" sz="2378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050" name="Picture 2" descr="What to buy at the supermarket? Female customer looking at a lot of brands at the grocery store and choosing food products - Photo, Image">
            <a:extLst>
              <a:ext uri="{FF2B5EF4-FFF2-40B4-BE49-F238E27FC236}">
                <a16:creationId xmlns:a16="http://schemas.microsoft.com/office/drawing/2014/main" id="{9E1F5D73-3B1D-5715-34FE-6C738FC5AA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12"/>
          <a:stretch>
            <a:fillRect/>
          </a:stretch>
        </p:blipFill>
        <p:spPr bwMode="auto">
          <a:xfrm>
            <a:off x="480328" y="1478100"/>
            <a:ext cx="8663672" cy="7330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0591800" y="2902142"/>
            <a:ext cx="7249021" cy="6125423"/>
          </a:xfrm>
          <a:custGeom>
            <a:avLst/>
            <a:gdLst/>
            <a:ahLst/>
            <a:cxnLst/>
            <a:rect l="l" t="t" r="r" b="b"/>
            <a:pathLst>
              <a:path w="7249021" h="6125423">
                <a:moveTo>
                  <a:pt x="0" y="0"/>
                </a:moveTo>
                <a:lnTo>
                  <a:pt x="7249021" y="0"/>
                </a:lnTo>
                <a:lnTo>
                  <a:pt x="7249021" y="6125422"/>
                </a:lnTo>
                <a:lnTo>
                  <a:pt x="0" y="61254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9845862" y="848360"/>
            <a:ext cx="7413438" cy="1713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20"/>
              </a:lnSpc>
              <a:spcBef>
                <a:spcPct val="0"/>
              </a:spcBef>
            </a:pPr>
            <a:r>
              <a:rPr lang="en-US" sz="5600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Findings - Visual Comparison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4300" y="6968207"/>
            <a:ext cx="10477500" cy="3545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50"/>
              </a:lnSpc>
            </a:pPr>
            <a:r>
              <a:rPr lang="en-US" sz="2178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above</a:t>
            </a:r>
            <a:r>
              <a:rPr lang="en-US" sz="2178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- Acme Dataset chart</a:t>
            </a:r>
          </a:p>
          <a:p>
            <a:pPr marL="470434" lvl="1" indent="-235217" algn="l">
              <a:lnSpc>
                <a:spcPts val="3050"/>
              </a:lnSpc>
              <a:buFont typeface="Arial"/>
              <a:buChar char="•"/>
            </a:pPr>
            <a:r>
              <a:rPr lang="en-US" sz="2178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shows </a:t>
            </a:r>
            <a:r>
              <a:rPr lang="en-US" sz="2178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age group vs. purchase frequency</a:t>
            </a:r>
            <a:r>
              <a:rPr lang="en-US" sz="2178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(number of purchases per year)</a:t>
            </a:r>
          </a:p>
          <a:p>
            <a:pPr algn="l">
              <a:lnSpc>
                <a:spcPts val="3050"/>
              </a:lnSpc>
            </a:pPr>
            <a:endParaRPr lang="en-US" sz="2178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algn="l">
              <a:lnSpc>
                <a:spcPts val="3050"/>
              </a:lnSpc>
            </a:pPr>
            <a:r>
              <a:rPr lang="en-US" sz="2178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right</a:t>
            </a:r>
            <a:r>
              <a:rPr lang="en-US" sz="2178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- Outside Dataset chart</a:t>
            </a:r>
          </a:p>
          <a:p>
            <a:pPr marL="470434" lvl="1" indent="-235217" algn="l">
              <a:lnSpc>
                <a:spcPts val="3050"/>
              </a:lnSpc>
              <a:buFont typeface="Arial"/>
              <a:buChar char="•"/>
            </a:pPr>
            <a:r>
              <a:rPr lang="en-US" sz="2178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shows </a:t>
            </a:r>
            <a:r>
              <a:rPr lang="en-US" sz="2178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age group vs. median purchase frequency</a:t>
            </a:r>
            <a:r>
              <a:rPr lang="en-US" sz="2178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</a:p>
          <a:p>
            <a:pPr marL="235217" lvl="1">
              <a:lnSpc>
                <a:spcPts val="3050"/>
              </a:lnSpc>
            </a:pPr>
            <a:endParaRPr lang="en-US" sz="2178" dirty="0">
              <a:solidFill>
                <a:srgbClr val="000000"/>
              </a:solidFill>
              <a:latin typeface="Raleway"/>
              <a:ea typeface="Raleway Bold"/>
              <a:cs typeface="Raleway Bold"/>
              <a:sym typeface="Raleway"/>
            </a:endParaRPr>
          </a:p>
          <a:p>
            <a:pPr indent="-221983">
              <a:lnSpc>
                <a:spcPts val="3050"/>
              </a:lnSpc>
            </a:pPr>
            <a:r>
              <a:rPr lang="en-US" sz="2400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Conclusion</a:t>
            </a:r>
            <a:r>
              <a:rPr lang="en-US" sz="24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– for the most part, as customers </a:t>
            </a:r>
            <a:r>
              <a:rPr lang="en-US" sz="2400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increase in age,</a:t>
            </a:r>
            <a:r>
              <a:rPr lang="en-US" sz="2400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so does their </a:t>
            </a:r>
            <a:r>
              <a:rPr lang="en-US" sz="2400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purchase frequency</a:t>
            </a:r>
          </a:p>
          <a:p>
            <a:pPr marL="235217" lvl="1" algn="l">
              <a:lnSpc>
                <a:spcPts val="3050"/>
              </a:lnSpc>
            </a:pPr>
            <a:endParaRPr lang="en-US" sz="2178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312D13-0FD9-F0EE-AFEA-4F1F1DD57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214" y="495300"/>
            <a:ext cx="7638549" cy="644282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06011" y="1673198"/>
            <a:ext cx="6938179" cy="6940603"/>
            <a:chOff x="0" y="0"/>
            <a:chExt cx="9250905" cy="9254138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16699" r="16699"/>
            <a:stretch>
              <a:fillRect/>
            </a:stretch>
          </p:blipFill>
          <p:spPr>
            <a:xfrm>
              <a:off x="0" y="0"/>
              <a:ext cx="9250905" cy="9254138"/>
            </a:xfrm>
            <a:prstGeom prst="rect">
              <a:avLst/>
            </a:prstGeom>
          </p:spPr>
        </p:pic>
      </p:grpSp>
      <p:sp>
        <p:nvSpPr>
          <p:cNvPr id="4" name="TextBox 4"/>
          <p:cNvSpPr txBox="1"/>
          <p:nvPr/>
        </p:nvSpPr>
        <p:spPr>
          <a:xfrm>
            <a:off x="9845862" y="2215465"/>
            <a:ext cx="7638549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20"/>
              </a:lnSpc>
              <a:spcBef>
                <a:spcPct val="0"/>
              </a:spcBef>
            </a:pPr>
            <a:r>
              <a:rPr lang="en-US" sz="5600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Insight for Businesses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845862" y="3464710"/>
            <a:ext cx="7638549" cy="4183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0"/>
              </a:lnSpc>
            </a:pPr>
            <a:r>
              <a:rPr lang="en-US" sz="2178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Grocery stores should </a:t>
            </a:r>
            <a:r>
              <a:rPr lang="en-US" sz="2178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cater more towards older demographics</a:t>
            </a:r>
            <a:r>
              <a:rPr lang="en-US" sz="2178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since they frequent their stores more often than other age demographics</a:t>
            </a:r>
          </a:p>
          <a:p>
            <a:pPr algn="l">
              <a:lnSpc>
                <a:spcPts val="3050"/>
              </a:lnSpc>
            </a:pPr>
            <a:endParaRPr lang="en-US" sz="2178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algn="l">
              <a:lnSpc>
                <a:spcPts val="3050"/>
              </a:lnSpc>
            </a:pPr>
            <a:endParaRPr lang="en-US" sz="2178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algn="l">
              <a:lnSpc>
                <a:spcPts val="3050"/>
              </a:lnSpc>
            </a:pPr>
            <a:r>
              <a:rPr lang="en-US" sz="2178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Could include </a:t>
            </a:r>
          </a:p>
          <a:p>
            <a:pPr marL="470434" lvl="1" indent="-235217" algn="l">
              <a:lnSpc>
                <a:spcPts val="3050"/>
              </a:lnSpc>
              <a:buFont typeface="Arial"/>
              <a:buChar char="•"/>
            </a:pPr>
            <a:r>
              <a:rPr lang="en-US" sz="2178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Accommodations</a:t>
            </a:r>
            <a:r>
              <a:rPr lang="en-US" sz="2178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for mobility-challenged</a:t>
            </a:r>
          </a:p>
          <a:p>
            <a:pPr marL="470434" lvl="1" indent="-235217" algn="l">
              <a:lnSpc>
                <a:spcPts val="3050"/>
              </a:lnSpc>
              <a:buFont typeface="Arial"/>
              <a:buChar char="•"/>
            </a:pPr>
            <a:r>
              <a:rPr lang="en-US" sz="2178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Easy-to-read signage</a:t>
            </a:r>
          </a:p>
          <a:p>
            <a:pPr marL="470434" lvl="1" indent="-235217" algn="l">
              <a:lnSpc>
                <a:spcPts val="3050"/>
              </a:lnSpc>
              <a:buFont typeface="Arial"/>
              <a:buChar char="•"/>
            </a:pPr>
            <a:r>
              <a:rPr lang="en-US" sz="2178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Plenty of </a:t>
            </a:r>
            <a:r>
              <a:rPr lang="en-US" sz="2178" b="1" dirty="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seating areas</a:t>
            </a:r>
            <a:r>
              <a:rPr lang="en-US" sz="2178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, such as benches, around store if they are large box stores</a:t>
            </a:r>
          </a:p>
          <a:p>
            <a:pPr marL="0" lvl="0" indent="0" algn="l">
              <a:lnSpc>
                <a:spcPts val="3050"/>
              </a:lnSpc>
              <a:spcBef>
                <a:spcPct val="0"/>
              </a:spcBef>
            </a:pPr>
            <a:endParaRPr lang="en-US" sz="2178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39328" y="3826664"/>
            <a:ext cx="7459961" cy="948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35"/>
              </a:lnSpc>
            </a:pPr>
            <a:r>
              <a:rPr lang="en-US" sz="634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Thank you!</a:t>
            </a:r>
          </a:p>
        </p:txBody>
      </p:sp>
      <p:sp>
        <p:nvSpPr>
          <p:cNvPr id="3" name="AutoShape 3"/>
          <p:cNvSpPr/>
          <p:nvPr/>
        </p:nvSpPr>
        <p:spPr>
          <a:xfrm>
            <a:off x="2039328" y="5119639"/>
            <a:ext cx="745996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2039328" y="6019847"/>
            <a:ext cx="12962836" cy="1856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6053" lvl="1" indent="-288027" algn="l">
              <a:lnSpc>
                <a:spcPts val="3735"/>
              </a:lnSpc>
              <a:buFont typeface="Arial"/>
              <a:buChar char="•"/>
            </a:pPr>
            <a:r>
              <a:rPr lang="en-US" sz="2668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Outside Dataset - </a:t>
            </a:r>
            <a:r>
              <a:rPr lang="en-US" sz="2668" u="sng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  <a:hlinkClick r:id="rId2" tooltip="https://www.kaggle.com/datasets/hanaksoy/customer-purchasing-behaviors"/>
              </a:rPr>
              <a:t>https://www.kaggle.com/datasets/hanaksoy/customer-purchasing-behaviors</a:t>
            </a:r>
          </a:p>
          <a:p>
            <a:pPr marL="576053" lvl="1" indent="-288027" algn="l">
              <a:lnSpc>
                <a:spcPts val="3735"/>
              </a:lnSpc>
              <a:buFont typeface="Arial"/>
              <a:buChar char="•"/>
            </a:pPr>
            <a:r>
              <a:rPr lang="en-US" sz="2668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Pandas Documentation Reference - </a:t>
            </a:r>
            <a:r>
              <a:rPr lang="en-US" sz="2668" u="sng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  <a:hlinkClick r:id="rId3" tooltip="https://pandas.pydata.org/docs/index.html"/>
              </a:rPr>
              <a:t>https://pandas.pydata.org/docs/index.html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39328" y="5442364"/>
            <a:ext cx="4352827" cy="522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97"/>
              </a:lnSpc>
              <a:spcBef>
                <a:spcPct val="0"/>
              </a:spcBef>
            </a:pPr>
            <a:r>
              <a:rPr lang="en-US" sz="3069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603</Words>
  <Application>Microsoft Office PowerPoint</Application>
  <PresentationFormat>Custom</PresentationFormat>
  <Paragraphs>123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Raleway Bold</vt:lpstr>
      <vt:lpstr>Calibri</vt:lpstr>
      <vt:lpstr>Raleway</vt:lpstr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analysis project</dc:title>
  <cp:lastModifiedBy>Elizabeth Arredondo</cp:lastModifiedBy>
  <cp:revision>1</cp:revision>
  <dcterms:created xsi:type="dcterms:W3CDTF">2006-08-16T00:00:00Z</dcterms:created>
  <dcterms:modified xsi:type="dcterms:W3CDTF">2025-12-05T20:23:31Z</dcterms:modified>
  <dc:identifier>DAG6aKZU5Hc</dc:identifier>
</cp:coreProperties>
</file>