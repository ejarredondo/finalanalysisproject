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3" r:id="rId4"/>
    <p:sldId id="268" r:id="rId5"/>
    <p:sldId id="265" r:id="rId6"/>
    <p:sldId id="259" r:id="rId7"/>
    <p:sldId id="260" r:id="rId8"/>
    <p:sldId id="267" r:id="rId9"/>
    <p:sldId id="264" r:id="rId10"/>
    <p:sldId id="261" r:id="rId11"/>
    <p:sldId id="270" r:id="rId12"/>
    <p:sldId id="262" r:id="rId13"/>
    <p:sldId id="269"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BE0D45-F525-413A-AA99-C816F0FD6909}" v="18" dt="2025-12-05T03:56:26.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47" d="100"/>
          <a:sy n="47" d="100"/>
        </p:scale>
        <p:origin x="53" y="1138"/>
      </p:cViewPr>
      <p:guideLst/>
    </p:cSldViewPr>
  </p:slideViewPr>
  <p:notesTextViewPr>
    <p:cViewPr>
      <p:scale>
        <a:sx n="1" d="1"/>
        <a:sy n="1" d="1"/>
      </p:scale>
      <p:origin x="0" y="-317"/>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zabeth Arredondo" userId="b05ce88d20f1ee90" providerId="LiveId" clId="{06C27BFA-2871-42ED-BEC4-BF25914AE792}"/>
    <pc:docChg chg="undo custSel addSld delSld modSld sldOrd">
      <pc:chgData name="Elizabeth Arredondo" userId="b05ce88d20f1ee90" providerId="LiveId" clId="{06C27BFA-2871-42ED-BEC4-BF25914AE792}" dt="2025-12-05T00:33:28.941" v="4549" actId="20577"/>
      <pc:docMkLst>
        <pc:docMk/>
      </pc:docMkLst>
      <pc:sldChg chg="modSp mod">
        <pc:chgData name="Elizabeth Arredondo" userId="b05ce88d20f1ee90" providerId="LiveId" clId="{06C27BFA-2871-42ED-BEC4-BF25914AE792}" dt="2025-12-04T23:24:02.973" v="2425" actId="20577"/>
        <pc:sldMkLst>
          <pc:docMk/>
          <pc:sldMk cId="2468512440" sldId="259"/>
        </pc:sldMkLst>
        <pc:spChg chg="mod">
          <ac:chgData name="Elizabeth Arredondo" userId="b05ce88d20f1ee90" providerId="LiveId" clId="{06C27BFA-2871-42ED-BEC4-BF25914AE792}" dt="2025-12-04T23:24:02.973" v="2425" actId="20577"/>
          <ac:spMkLst>
            <pc:docMk/>
            <pc:sldMk cId="2468512440" sldId="259"/>
            <ac:spMk id="3" creationId="{02C29760-EB41-65CE-6BBD-92DA3C2E157D}"/>
          </ac:spMkLst>
        </pc:spChg>
      </pc:sldChg>
      <pc:sldChg chg="addSp modSp mod">
        <pc:chgData name="Elizabeth Arredondo" userId="b05ce88d20f1ee90" providerId="LiveId" clId="{06C27BFA-2871-42ED-BEC4-BF25914AE792}" dt="2025-12-02T20:15:42.891" v="700" actId="27636"/>
        <pc:sldMkLst>
          <pc:docMk/>
          <pc:sldMk cId="650708436" sldId="260"/>
        </pc:sldMkLst>
        <pc:spChg chg="mod">
          <ac:chgData name="Elizabeth Arredondo" userId="b05ce88d20f1ee90" providerId="LiveId" clId="{06C27BFA-2871-42ED-BEC4-BF25914AE792}" dt="2025-11-30T01:29:54.295" v="7" actId="20577"/>
          <ac:spMkLst>
            <pc:docMk/>
            <pc:sldMk cId="650708436" sldId="260"/>
            <ac:spMk id="2" creationId="{11C76961-AB1D-DD12-B1A4-F0F4D58F7487}"/>
          </ac:spMkLst>
        </pc:spChg>
        <pc:spChg chg="mod">
          <ac:chgData name="Elizabeth Arredondo" userId="b05ce88d20f1ee90" providerId="LiveId" clId="{06C27BFA-2871-42ED-BEC4-BF25914AE792}" dt="2025-12-02T20:15:42.891" v="700" actId="27636"/>
          <ac:spMkLst>
            <pc:docMk/>
            <pc:sldMk cId="650708436" sldId="260"/>
            <ac:spMk id="3" creationId="{557B949E-7009-C97D-1540-B37B9E5CEBA7}"/>
          </ac:spMkLst>
        </pc:spChg>
        <pc:picChg chg="add mod">
          <ac:chgData name="Elizabeth Arredondo" userId="b05ce88d20f1ee90" providerId="LiveId" clId="{06C27BFA-2871-42ED-BEC4-BF25914AE792}" dt="2025-12-02T20:14:52.601" v="697" actId="1076"/>
          <ac:picMkLst>
            <pc:docMk/>
            <pc:sldMk cId="650708436" sldId="260"/>
            <ac:picMk id="5" creationId="{DE47F815-2310-39F2-C1B3-6F1E80A1CBE5}"/>
          </ac:picMkLst>
        </pc:picChg>
      </pc:sldChg>
      <pc:sldChg chg="modSp mod modNotesTx">
        <pc:chgData name="Elizabeth Arredondo" userId="b05ce88d20f1ee90" providerId="LiveId" clId="{06C27BFA-2871-42ED-BEC4-BF25914AE792}" dt="2025-12-05T00:08:24.892" v="3014" actId="20577"/>
        <pc:sldMkLst>
          <pc:docMk/>
          <pc:sldMk cId="1442569754" sldId="261"/>
        </pc:sldMkLst>
        <pc:spChg chg="mod">
          <ac:chgData name="Elizabeth Arredondo" userId="b05ce88d20f1ee90" providerId="LiveId" clId="{06C27BFA-2871-42ED-BEC4-BF25914AE792}" dt="2025-12-05T00:08:24.892" v="3014" actId="20577"/>
          <ac:spMkLst>
            <pc:docMk/>
            <pc:sldMk cId="1442569754" sldId="261"/>
            <ac:spMk id="3" creationId="{3D9F9D4A-F629-53C5-516D-87C54127160C}"/>
          </ac:spMkLst>
        </pc:spChg>
      </pc:sldChg>
      <pc:sldChg chg="addSp delSp modSp mod ord modNotesTx">
        <pc:chgData name="Elizabeth Arredondo" userId="b05ce88d20f1ee90" providerId="LiveId" clId="{06C27BFA-2871-42ED-BEC4-BF25914AE792}" dt="2025-12-05T00:27:45.827" v="3452" actId="20577"/>
        <pc:sldMkLst>
          <pc:docMk/>
          <pc:sldMk cId="1207236806" sldId="262"/>
        </pc:sldMkLst>
        <pc:spChg chg="mod">
          <ac:chgData name="Elizabeth Arredondo" userId="b05ce88d20f1ee90" providerId="LiveId" clId="{06C27BFA-2871-42ED-BEC4-BF25914AE792}" dt="2025-12-05T00:26:20.366" v="3303" actId="20577"/>
          <ac:spMkLst>
            <pc:docMk/>
            <pc:sldMk cId="1207236806" sldId="262"/>
            <ac:spMk id="2" creationId="{4D79F493-597B-2BEE-4F3E-32E8D43781F1}"/>
          </ac:spMkLst>
        </pc:spChg>
        <pc:spChg chg="del mod">
          <ac:chgData name="Elizabeth Arredondo" userId="b05ce88d20f1ee90" providerId="LiveId" clId="{06C27BFA-2871-42ED-BEC4-BF25914AE792}" dt="2025-12-05T00:26:25.020" v="3304" actId="478"/>
          <ac:spMkLst>
            <pc:docMk/>
            <pc:sldMk cId="1207236806" sldId="262"/>
            <ac:spMk id="3" creationId="{FA648E93-8CE8-EFAC-F1A8-D0E8D5B44B12}"/>
          </ac:spMkLst>
        </pc:spChg>
        <pc:picChg chg="add del">
          <ac:chgData name="Elizabeth Arredondo" userId="b05ce88d20f1ee90" providerId="LiveId" clId="{06C27BFA-2871-42ED-BEC4-BF25914AE792}" dt="2025-12-04T16:16:19.144" v="1015" actId="478"/>
          <ac:picMkLst>
            <pc:docMk/>
            <pc:sldMk cId="1207236806" sldId="262"/>
            <ac:picMk id="5" creationId="{BD61B905-62E2-2ED8-F23A-28C0CF2283CD}"/>
          </ac:picMkLst>
        </pc:picChg>
        <pc:picChg chg="add del mod">
          <ac:chgData name="Elizabeth Arredondo" userId="b05ce88d20f1ee90" providerId="LiveId" clId="{06C27BFA-2871-42ED-BEC4-BF25914AE792}" dt="2025-12-05T00:08:32.316" v="3015" actId="478"/>
          <ac:picMkLst>
            <pc:docMk/>
            <pc:sldMk cId="1207236806" sldId="262"/>
            <ac:picMk id="6" creationId="{761F1A2E-FE5E-4C3A-1A66-BD44E0688A80}"/>
          </ac:picMkLst>
        </pc:picChg>
        <pc:picChg chg="add del">
          <ac:chgData name="Elizabeth Arredondo" userId="b05ce88d20f1ee90" providerId="LiveId" clId="{06C27BFA-2871-42ED-BEC4-BF25914AE792}" dt="2025-12-04T23:05:10.963" v="1988" actId="21"/>
          <ac:picMkLst>
            <pc:docMk/>
            <pc:sldMk cId="1207236806" sldId="262"/>
            <ac:picMk id="8" creationId="{9C313523-9F7C-13A6-84A3-C6C9AD23B6D3}"/>
          </ac:picMkLst>
        </pc:picChg>
        <pc:picChg chg="add del mod">
          <ac:chgData name="Elizabeth Arredondo" userId="b05ce88d20f1ee90" providerId="LiveId" clId="{06C27BFA-2871-42ED-BEC4-BF25914AE792}" dt="2025-12-05T00:26:04.098" v="3281" actId="21"/>
          <ac:picMkLst>
            <pc:docMk/>
            <pc:sldMk cId="1207236806" sldId="262"/>
            <ac:picMk id="9" creationId="{C3F15F05-ED70-5789-F9E8-81B946221FF1}"/>
          </ac:picMkLst>
        </pc:picChg>
        <pc:picChg chg="add mod">
          <ac:chgData name="Elizabeth Arredondo" userId="b05ce88d20f1ee90" providerId="LiveId" clId="{06C27BFA-2871-42ED-BEC4-BF25914AE792}" dt="2025-12-05T00:26:28.102" v="3305" actId="1076"/>
          <ac:picMkLst>
            <pc:docMk/>
            <pc:sldMk cId="1207236806" sldId="262"/>
            <ac:picMk id="10" creationId="{C3F15F05-ED70-5789-F9E8-81B946221FF1}"/>
          </ac:picMkLst>
        </pc:picChg>
        <pc:picChg chg="add mod">
          <ac:chgData name="Elizabeth Arredondo" userId="b05ce88d20f1ee90" providerId="LiveId" clId="{06C27BFA-2871-42ED-BEC4-BF25914AE792}" dt="2025-12-05T00:26:36.105" v="3309" actId="14100"/>
          <ac:picMkLst>
            <pc:docMk/>
            <pc:sldMk cId="1207236806" sldId="262"/>
            <ac:picMk id="11" creationId="{F8FE3871-AE23-519E-6A85-6B296F3FAA7A}"/>
          </ac:picMkLst>
        </pc:picChg>
      </pc:sldChg>
      <pc:sldChg chg="addSp delSp modSp mod">
        <pc:chgData name="Elizabeth Arredondo" userId="b05ce88d20f1ee90" providerId="LiveId" clId="{06C27BFA-2871-42ED-BEC4-BF25914AE792}" dt="2025-12-04T22:11:12.462" v="1986" actId="1076"/>
        <pc:sldMkLst>
          <pc:docMk/>
          <pc:sldMk cId="3737608517" sldId="263"/>
        </pc:sldMkLst>
        <pc:spChg chg="mod">
          <ac:chgData name="Elizabeth Arredondo" userId="b05ce88d20f1ee90" providerId="LiveId" clId="{06C27BFA-2871-42ED-BEC4-BF25914AE792}" dt="2025-12-02T20:13:12.272" v="659" actId="1076"/>
          <ac:spMkLst>
            <pc:docMk/>
            <pc:sldMk cId="3737608517" sldId="263"/>
            <ac:spMk id="16" creationId="{7523512C-2AAF-9277-D251-A111CD652017}"/>
          </ac:spMkLst>
        </pc:spChg>
        <pc:spChg chg="mod">
          <ac:chgData name="Elizabeth Arredondo" userId="b05ce88d20f1ee90" providerId="LiveId" clId="{06C27BFA-2871-42ED-BEC4-BF25914AE792}" dt="2025-12-02T20:13:15.521" v="660" actId="1076"/>
          <ac:spMkLst>
            <pc:docMk/>
            <pc:sldMk cId="3737608517" sldId="263"/>
            <ac:spMk id="18" creationId="{0197ABDE-69A2-439E-5900-B66B217BAEAA}"/>
          </ac:spMkLst>
        </pc:spChg>
        <pc:picChg chg="add mod">
          <ac:chgData name="Elizabeth Arredondo" userId="b05ce88d20f1ee90" providerId="LiveId" clId="{06C27BFA-2871-42ED-BEC4-BF25914AE792}" dt="2025-12-04T22:11:12.462" v="1986" actId="1076"/>
          <ac:picMkLst>
            <pc:docMk/>
            <pc:sldMk cId="3737608517" sldId="263"/>
            <ac:picMk id="3" creationId="{968241A8-B36B-3961-A028-19D53A690BA4}"/>
          </ac:picMkLst>
        </pc:picChg>
        <pc:picChg chg="add del mod">
          <ac:chgData name="Elizabeth Arredondo" userId="b05ce88d20f1ee90" providerId="LiveId" clId="{06C27BFA-2871-42ED-BEC4-BF25914AE792}" dt="2025-12-04T22:11:09.866" v="1984" actId="478"/>
          <ac:picMkLst>
            <pc:docMk/>
            <pc:sldMk cId="3737608517" sldId="263"/>
            <ac:picMk id="22" creationId="{9A0D2EA0-0411-0E8E-E25E-7912543DED20}"/>
          </ac:picMkLst>
        </pc:picChg>
      </pc:sldChg>
      <pc:sldChg chg="modSp mod">
        <pc:chgData name="Elizabeth Arredondo" userId="b05ce88d20f1ee90" providerId="LiveId" clId="{06C27BFA-2871-42ED-BEC4-BF25914AE792}" dt="2025-12-04T23:32:24.799" v="2884" actId="20577"/>
        <pc:sldMkLst>
          <pc:docMk/>
          <pc:sldMk cId="1021877839" sldId="264"/>
        </pc:sldMkLst>
        <pc:spChg chg="mod">
          <ac:chgData name="Elizabeth Arredondo" userId="b05ce88d20f1ee90" providerId="LiveId" clId="{06C27BFA-2871-42ED-BEC4-BF25914AE792}" dt="2025-11-30T02:08:49.546" v="286" actId="20577"/>
          <ac:spMkLst>
            <pc:docMk/>
            <pc:sldMk cId="1021877839" sldId="264"/>
            <ac:spMk id="2" creationId="{A8710C4C-6D06-5540-D635-B8B56940BCDD}"/>
          </ac:spMkLst>
        </pc:spChg>
        <pc:spChg chg="mod">
          <ac:chgData name="Elizabeth Arredondo" userId="b05ce88d20f1ee90" providerId="LiveId" clId="{06C27BFA-2871-42ED-BEC4-BF25914AE792}" dt="2025-12-04T23:32:24.799" v="2884" actId="20577"/>
          <ac:spMkLst>
            <pc:docMk/>
            <pc:sldMk cId="1021877839" sldId="264"/>
            <ac:spMk id="3" creationId="{96391C75-115C-A07D-F92D-185416F43DD9}"/>
          </ac:spMkLst>
        </pc:spChg>
      </pc:sldChg>
      <pc:sldChg chg="addSp delSp modSp new mod modClrScheme chgLayout modNotesTx">
        <pc:chgData name="Elizabeth Arredondo" userId="b05ce88d20f1ee90" providerId="LiveId" clId="{06C27BFA-2871-42ED-BEC4-BF25914AE792}" dt="2025-12-04T23:26:57.065" v="2467" actId="1076"/>
        <pc:sldMkLst>
          <pc:docMk/>
          <pc:sldMk cId="4148585024" sldId="267"/>
        </pc:sldMkLst>
        <pc:spChg chg="mod ord">
          <ac:chgData name="Elizabeth Arredondo" userId="b05ce88d20f1ee90" providerId="LiveId" clId="{06C27BFA-2871-42ED-BEC4-BF25914AE792}" dt="2025-12-04T21:07:00.192" v="1983" actId="20577"/>
          <ac:spMkLst>
            <pc:docMk/>
            <pc:sldMk cId="4148585024" sldId="267"/>
            <ac:spMk id="2" creationId="{55B9B094-A904-049D-B5B3-364849998849}"/>
          </ac:spMkLst>
        </pc:spChg>
        <pc:spChg chg="mod ord">
          <ac:chgData name="Elizabeth Arredondo" userId="b05ce88d20f1ee90" providerId="LiveId" clId="{06C27BFA-2871-42ED-BEC4-BF25914AE792}" dt="2025-12-04T23:26:49.461" v="2466" actId="20577"/>
          <ac:spMkLst>
            <pc:docMk/>
            <pc:sldMk cId="4148585024" sldId="267"/>
            <ac:spMk id="3" creationId="{51A32370-F2BC-69F4-320B-04827EE14030}"/>
          </ac:spMkLst>
        </pc:spChg>
        <pc:spChg chg="add mod ord">
          <ac:chgData name="Elizabeth Arredondo" userId="b05ce88d20f1ee90" providerId="LiveId" clId="{06C27BFA-2871-42ED-BEC4-BF25914AE792}" dt="2025-12-04T21:06:16.086" v="1908" actId="20577"/>
          <ac:spMkLst>
            <pc:docMk/>
            <pc:sldMk cId="4148585024" sldId="267"/>
            <ac:spMk id="4" creationId="{89629AE7-ECB2-0FF7-3E8F-C0D5CCDB9437}"/>
          </ac:spMkLst>
        </pc:spChg>
        <pc:spChg chg="add mod ord">
          <ac:chgData name="Elizabeth Arredondo" userId="b05ce88d20f1ee90" providerId="LiveId" clId="{06C27BFA-2871-42ED-BEC4-BF25914AE792}" dt="2025-12-04T21:06:21.347" v="1933" actId="20577"/>
          <ac:spMkLst>
            <pc:docMk/>
            <pc:sldMk cId="4148585024" sldId="267"/>
            <ac:spMk id="6" creationId="{38485F4B-7364-2DF9-3F52-EDF240D01E0E}"/>
          </ac:spMkLst>
        </pc:spChg>
        <pc:spChg chg="add mod ord">
          <ac:chgData name="Elizabeth Arredondo" userId="b05ce88d20f1ee90" providerId="LiveId" clId="{06C27BFA-2871-42ED-BEC4-BF25914AE792}" dt="2025-12-04T23:26:00.012" v="2444" actId="20577"/>
          <ac:spMkLst>
            <pc:docMk/>
            <pc:sldMk cId="4148585024" sldId="267"/>
            <ac:spMk id="7" creationId="{A38C3C1D-972C-4EE9-5764-7DA813180EF1}"/>
          </ac:spMkLst>
        </pc:spChg>
        <pc:spChg chg="add del mod">
          <ac:chgData name="Elizabeth Arredondo" userId="b05ce88d20f1ee90" providerId="LiveId" clId="{06C27BFA-2871-42ED-BEC4-BF25914AE792}" dt="2025-12-04T23:10:52.500" v="2295"/>
          <ac:spMkLst>
            <pc:docMk/>
            <pc:sldMk cId="4148585024" sldId="267"/>
            <ac:spMk id="9" creationId="{C6BA8179-CDC4-96DD-39BE-45FD17D8CE2E}"/>
          </ac:spMkLst>
        </pc:spChg>
        <pc:picChg chg="add mod">
          <ac:chgData name="Elizabeth Arredondo" userId="b05ce88d20f1ee90" providerId="LiveId" clId="{06C27BFA-2871-42ED-BEC4-BF25914AE792}" dt="2025-12-04T23:26:57.065" v="2467" actId="1076"/>
          <ac:picMkLst>
            <pc:docMk/>
            <pc:sldMk cId="4148585024" sldId="267"/>
            <ac:picMk id="5" creationId="{987B1C20-DF65-8F67-3E9A-767D4457E95E}"/>
          </ac:picMkLst>
        </pc:picChg>
        <pc:picChg chg="add mod">
          <ac:chgData name="Elizabeth Arredondo" userId="b05ce88d20f1ee90" providerId="LiveId" clId="{06C27BFA-2871-42ED-BEC4-BF25914AE792}" dt="2025-12-04T23:26:05.036" v="2446" actId="1076"/>
          <ac:picMkLst>
            <pc:docMk/>
            <pc:sldMk cId="4148585024" sldId="267"/>
            <ac:picMk id="8" creationId="{9C313523-9F7C-13A6-84A3-C6C9AD23B6D3}"/>
          </ac:picMkLst>
        </pc:picChg>
      </pc:sldChg>
      <pc:sldChg chg="addSp delSp modSp new mod">
        <pc:chgData name="Elizabeth Arredondo" userId="b05ce88d20f1ee90" providerId="LiveId" clId="{06C27BFA-2871-42ED-BEC4-BF25914AE792}" dt="2025-12-04T20:40:50.956" v="1018" actId="14100"/>
        <pc:sldMkLst>
          <pc:docMk/>
          <pc:sldMk cId="4228960544" sldId="268"/>
        </pc:sldMkLst>
        <pc:spChg chg="add mod">
          <ac:chgData name="Elizabeth Arredondo" userId="b05ce88d20f1ee90" providerId="LiveId" clId="{06C27BFA-2871-42ED-BEC4-BF25914AE792}" dt="2025-12-04T20:40:50.956" v="1018" actId="14100"/>
          <ac:spMkLst>
            <pc:docMk/>
            <pc:sldMk cId="4228960544" sldId="268"/>
            <ac:spMk id="13" creationId="{41409346-2E35-D29A-1C34-DD4B5BB2924F}"/>
          </ac:spMkLst>
        </pc:spChg>
        <pc:spChg chg="add mod">
          <ac:chgData name="Elizabeth Arredondo" userId="b05ce88d20f1ee90" providerId="LiveId" clId="{06C27BFA-2871-42ED-BEC4-BF25914AE792}" dt="2025-12-04T20:40:50.956" v="1018" actId="14100"/>
          <ac:spMkLst>
            <pc:docMk/>
            <pc:sldMk cId="4228960544" sldId="268"/>
            <ac:spMk id="14" creationId="{E47A9B31-00B2-8D81-E6C3-D651E3BCFB7E}"/>
          </ac:spMkLst>
        </pc:spChg>
        <pc:spChg chg="add mod">
          <ac:chgData name="Elizabeth Arredondo" userId="b05ce88d20f1ee90" providerId="LiveId" clId="{06C27BFA-2871-42ED-BEC4-BF25914AE792}" dt="2025-12-04T20:40:50.956" v="1018" actId="14100"/>
          <ac:spMkLst>
            <pc:docMk/>
            <pc:sldMk cId="4228960544" sldId="268"/>
            <ac:spMk id="15" creationId="{C0C2CAAD-49E5-5B1F-413A-8C920C189FC1}"/>
          </ac:spMkLst>
        </pc:spChg>
        <pc:picChg chg="add mod">
          <ac:chgData name="Elizabeth Arredondo" userId="b05ce88d20f1ee90" providerId="LiveId" clId="{06C27BFA-2871-42ED-BEC4-BF25914AE792}" dt="2025-12-04T20:40:50.956" v="1018" actId="14100"/>
          <ac:picMkLst>
            <pc:docMk/>
            <pc:sldMk cId="4228960544" sldId="268"/>
            <ac:picMk id="12" creationId="{A7D9A702-BC0A-FFCA-240E-AFA30E7D2546}"/>
          </ac:picMkLst>
        </pc:picChg>
      </pc:sldChg>
      <pc:sldChg chg="addSp delSp modSp new mod">
        <pc:chgData name="Elizabeth Arredondo" userId="b05ce88d20f1ee90" providerId="LiveId" clId="{06C27BFA-2871-42ED-BEC4-BF25914AE792}" dt="2025-12-05T00:32:16.037" v="4482" actId="313"/>
        <pc:sldMkLst>
          <pc:docMk/>
          <pc:sldMk cId="2621799519" sldId="269"/>
        </pc:sldMkLst>
        <pc:spChg chg="mod">
          <ac:chgData name="Elizabeth Arredondo" userId="b05ce88d20f1ee90" providerId="LiveId" clId="{06C27BFA-2871-42ED-BEC4-BF25914AE792}" dt="2025-12-05T00:25:33.313" v="3251" actId="20577"/>
          <ac:spMkLst>
            <pc:docMk/>
            <pc:sldMk cId="2621799519" sldId="269"/>
            <ac:spMk id="2" creationId="{E0F70EAD-B2A3-3EB6-4456-5CE5A175D458}"/>
          </ac:spMkLst>
        </pc:spChg>
        <pc:spChg chg="mod">
          <ac:chgData name="Elizabeth Arredondo" userId="b05ce88d20f1ee90" providerId="LiveId" clId="{06C27BFA-2871-42ED-BEC4-BF25914AE792}" dt="2025-12-05T00:32:16.037" v="4482" actId="313"/>
          <ac:spMkLst>
            <pc:docMk/>
            <pc:sldMk cId="2621799519" sldId="269"/>
            <ac:spMk id="3" creationId="{478FEFA8-574F-1FD2-0B0D-B1FB8D4E1FD7}"/>
          </ac:spMkLst>
        </pc:spChg>
        <pc:picChg chg="add del">
          <ac:chgData name="Elizabeth Arredondo" userId="b05ce88d20f1ee90" providerId="LiveId" clId="{06C27BFA-2871-42ED-BEC4-BF25914AE792}" dt="2025-12-05T00:08:36.712" v="3017" actId="21"/>
          <ac:picMkLst>
            <pc:docMk/>
            <pc:sldMk cId="2621799519" sldId="269"/>
            <ac:picMk id="5" creationId="{C3F15F05-ED70-5789-F9E8-81B946221FF1}"/>
          </ac:picMkLst>
        </pc:picChg>
      </pc:sldChg>
      <pc:sldChg chg="addSp delSp modSp new mod modNotesTx">
        <pc:chgData name="Elizabeth Arredondo" userId="b05ce88d20f1ee90" providerId="LiveId" clId="{06C27BFA-2871-42ED-BEC4-BF25914AE792}" dt="2025-12-05T00:30:49.472" v="4155" actId="20577"/>
        <pc:sldMkLst>
          <pc:docMk/>
          <pc:sldMk cId="2441085358" sldId="270"/>
        </pc:sldMkLst>
        <pc:spChg chg="mod">
          <ac:chgData name="Elizabeth Arredondo" userId="b05ce88d20f1ee90" providerId="LiveId" clId="{06C27BFA-2871-42ED-BEC4-BF25914AE792}" dt="2025-12-05T00:25:53.313" v="3277" actId="20577"/>
          <ac:spMkLst>
            <pc:docMk/>
            <pc:sldMk cId="2441085358" sldId="270"/>
            <ac:spMk id="2" creationId="{708830AA-D774-77F9-E427-5FA209575129}"/>
          </ac:spMkLst>
        </pc:spChg>
        <pc:spChg chg="mod">
          <ac:chgData name="Elizabeth Arredondo" userId="b05ce88d20f1ee90" providerId="LiveId" clId="{06C27BFA-2871-42ED-BEC4-BF25914AE792}" dt="2025-12-05T00:30:49.472" v="4155" actId="20577"/>
          <ac:spMkLst>
            <pc:docMk/>
            <pc:sldMk cId="2441085358" sldId="270"/>
            <ac:spMk id="3" creationId="{3CFA54EC-E49B-3CC6-BB5D-3466CB1BECB0}"/>
          </ac:spMkLst>
        </pc:spChg>
        <pc:picChg chg="add del mod">
          <ac:chgData name="Elizabeth Arredondo" userId="b05ce88d20f1ee90" providerId="LiveId" clId="{06C27BFA-2871-42ED-BEC4-BF25914AE792}" dt="2025-12-05T00:26:30.204" v="3306" actId="21"/>
          <ac:picMkLst>
            <pc:docMk/>
            <pc:sldMk cId="2441085358" sldId="270"/>
            <ac:picMk id="5" creationId="{F8FE3871-AE23-519E-6A85-6B296F3FAA7A}"/>
          </ac:picMkLst>
        </pc:picChg>
        <pc:picChg chg="add del mod">
          <ac:chgData name="Elizabeth Arredondo" userId="b05ce88d20f1ee90" providerId="LiveId" clId="{06C27BFA-2871-42ED-BEC4-BF25914AE792}" dt="2025-12-05T00:26:10.613" v="3283" actId="21"/>
          <ac:picMkLst>
            <pc:docMk/>
            <pc:sldMk cId="2441085358" sldId="270"/>
            <ac:picMk id="9" creationId="{C3F15F05-ED70-5789-F9E8-81B946221FF1}"/>
          </ac:picMkLst>
        </pc:picChg>
      </pc:sldChg>
      <pc:sldChg chg="modSp new mod">
        <pc:chgData name="Elizabeth Arredondo" userId="b05ce88d20f1ee90" providerId="LiveId" clId="{06C27BFA-2871-42ED-BEC4-BF25914AE792}" dt="2025-12-05T00:33:28.941" v="4549" actId="20577"/>
        <pc:sldMkLst>
          <pc:docMk/>
          <pc:sldMk cId="2725554783" sldId="271"/>
        </pc:sldMkLst>
        <pc:spChg chg="mod">
          <ac:chgData name="Elizabeth Arredondo" userId="b05ce88d20f1ee90" providerId="LiveId" clId="{06C27BFA-2871-42ED-BEC4-BF25914AE792}" dt="2025-12-05T00:25:38.136" v="3259" actId="20577"/>
          <ac:spMkLst>
            <pc:docMk/>
            <pc:sldMk cId="2725554783" sldId="271"/>
            <ac:spMk id="2" creationId="{3EB2E3DD-AEF4-FD9F-CD6D-30D10C23EA28}"/>
          </ac:spMkLst>
        </pc:spChg>
        <pc:spChg chg="mod">
          <ac:chgData name="Elizabeth Arredondo" userId="b05ce88d20f1ee90" providerId="LiveId" clId="{06C27BFA-2871-42ED-BEC4-BF25914AE792}" dt="2025-12-05T00:33:28.941" v="4549" actId="20577"/>
          <ac:spMkLst>
            <pc:docMk/>
            <pc:sldMk cId="2725554783" sldId="271"/>
            <ac:spMk id="3" creationId="{B5B207A4-ED65-3466-8A3D-EC79804324A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5E8D8-80B0-45F6-B534-EEA74BA7A733}"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581F96-6F0C-4D32-8A2F-B1E05FA9BECE}" type="slidenum">
              <a:rPr lang="en-US" smtClean="0"/>
              <a:t>‹#›</a:t>
            </a:fld>
            <a:endParaRPr lang="en-US"/>
          </a:p>
        </p:txBody>
      </p:sp>
    </p:spTree>
    <p:extLst>
      <p:ext uri="{BB962C8B-B14F-4D97-AF65-F5344CB8AC3E}">
        <p14:creationId xmlns:p14="http://schemas.microsoft.com/office/powerpoint/2010/main" val="12033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Disclaimer on information displayed –</a:t>
            </a:r>
          </a:p>
          <a:p>
            <a:r>
              <a:rPr lang="en-US" sz="1200" dirty="0"/>
              <a:t>	number of items purchased shows items part of list purchased most in slowest days OR purchase that occurred during slowest days</a:t>
            </a:r>
          </a:p>
          <a:p>
            <a:endParaRPr lang="en-US" dirty="0"/>
          </a:p>
        </p:txBody>
      </p:sp>
      <p:sp>
        <p:nvSpPr>
          <p:cNvPr id="4" name="Slide Number Placeholder 3"/>
          <p:cNvSpPr>
            <a:spLocks noGrp="1"/>
          </p:cNvSpPr>
          <p:nvPr>
            <p:ph type="sldNum" sz="quarter" idx="5"/>
          </p:nvPr>
        </p:nvSpPr>
        <p:spPr/>
        <p:txBody>
          <a:bodyPr/>
          <a:lstStyle/>
          <a:p>
            <a:fld id="{FE581F96-6F0C-4D32-8A2F-B1E05FA9BECE}" type="slidenum">
              <a:rPr lang="en-US" smtClean="0"/>
              <a:t>8</a:t>
            </a:fld>
            <a:endParaRPr lang="en-US"/>
          </a:p>
        </p:txBody>
      </p:sp>
    </p:spTree>
    <p:extLst>
      <p:ext uri="{BB962C8B-B14F-4D97-AF65-F5344CB8AC3E}">
        <p14:creationId xmlns:p14="http://schemas.microsoft.com/office/powerpoint/2010/main" val="3146320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with households!!</a:t>
            </a:r>
          </a:p>
        </p:txBody>
      </p:sp>
      <p:sp>
        <p:nvSpPr>
          <p:cNvPr id="4" name="Slide Number Placeholder 3"/>
          <p:cNvSpPr>
            <a:spLocks noGrp="1"/>
          </p:cNvSpPr>
          <p:nvPr>
            <p:ph type="sldNum" sz="quarter" idx="5"/>
          </p:nvPr>
        </p:nvSpPr>
        <p:spPr/>
        <p:txBody>
          <a:bodyPr/>
          <a:lstStyle/>
          <a:p>
            <a:fld id="{FE581F96-6F0C-4D32-8A2F-B1E05FA9BECE}" type="slidenum">
              <a:rPr lang="en-US" smtClean="0"/>
              <a:t>10</a:t>
            </a:fld>
            <a:endParaRPr lang="en-US"/>
          </a:p>
        </p:txBody>
      </p:sp>
    </p:spTree>
    <p:extLst>
      <p:ext uri="{BB962C8B-B14F-4D97-AF65-F5344CB8AC3E}">
        <p14:creationId xmlns:p14="http://schemas.microsoft.com/office/powerpoint/2010/main" val="1377883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3613" lvl="1" indent="-256807" algn="l">
              <a:lnSpc>
                <a:spcPts val="3330"/>
              </a:lnSpc>
              <a:buFont typeface="Arial"/>
              <a:buChar char="•"/>
            </a:pPr>
            <a:r>
              <a:rPr lang="en-US" sz="2378" b="1" dirty="0">
                <a:solidFill>
                  <a:srgbClr val="000000"/>
                </a:solidFill>
                <a:latin typeface="Raleway Bold"/>
                <a:ea typeface="Raleway Bold"/>
                <a:cs typeface="Raleway Bold"/>
                <a:sym typeface="Raleway Bold"/>
              </a:rPr>
              <a:t>Younger demographics</a:t>
            </a:r>
            <a:r>
              <a:rPr lang="en-US" sz="2378" dirty="0">
                <a:solidFill>
                  <a:srgbClr val="000000"/>
                </a:solidFill>
                <a:latin typeface="Raleway"/>
                <a:ea typeface="Raleway"/>
                <a:cs typeface="Raleway"/>
                <a:sym typeface="Raleway"/>
              </a:rPr>
              <a:t> tend to have younger children or work jobs, which can hinder purchase frequency</a:t>
            </a:r>
          </a:p>
          <a:p>
            <a:pPr marL="513613" lvl="1" indent="-256807" algn="l">
              <a:lnSpc>
                <a:spcPts val="3330"/>
              </a:lnSpc>
              <a:buFont typeface="Arial"/>
              <a:buChar char="•"/>
            </a:pPr>
            <a:r>
              <a:rPr lang="en-US" sz="2378" b="1">
                <a:solidFill>
                  <a:srgbClr val="000000"/>
                </a:solidFill>
                <a:latin typeface="Raleway Bold"/>
                <a:ea typeface="Raleway Bold"/>
                <a:cs typeface="Raleway Bold"/>
                <a:sym typeface="Raleway Bold"/>
              </a:rPr>
              <a:t>Older demographics</a:t>
            </a:r>
            <a:r>
              <a:rPr lang="en-US" sz="2378">
                <a:solidFill>
                  <a:srgbClr val="000000"/>
                </a:solidFill>
                <a:latin typeface="Raleway"/>
                <a:ea typeface="Raleway"/>
                <a:cs typeface="Raleway"/>
                <a:sym typeface="Raleway"/>
              </a:rPr>
              <a:t> don’t have to worry about young children and are typically retired, so they have more free time to shop</a:t>
            </a:r>
          </a:p>
          <a:p>
            <a:endParaRPr lang="en-US" dirty="0"/>
          </a:p>
        </p:txBody>
      </p:sp>
      <p:sp>
        <p:nvSpPr>
          <p:cNvPr id="4" name="Slide Number Placeholder 3"/>
          <p:cNvSpPr>
            <a:spLocks noGrp="1"/>
          </p:cNvSpPr>
          <p:nvPr>
            <p:ph type="sldNum" sz="quarter" idx="5"/>
          </p:nvPr>
        </p:nvSpPr>
        <p:spPr/>
        <p:txBody>
          <a:bodyPr/>
          <a:lstStyle/>
          <a:p>
            <a:fld id="{FE581F96-6F0C-4D32-8A2F-B1E05FA9BECE}" type="slidenum">
              <a:rPr lang="en-US" smtClean="0"/>
              <a:t>11</a:t>
            </a:fld>
            <a:endParaRPr lang="en-US"/>
          </a:p>
        </p:txBody>
      </p:sp>
    </p:spTree>
    <p:extLst>
      <p:ext uri="{BB962C8B-B14F-4D97-AF65-F5344CB8AC3E}">
        <p14:creationId xmlns:p14="http://schemas.microsoft.com/office/powerpoint/2010/main" val="1256062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shows – age group vs. purchase frequency (number of purchases per year)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 median purchase frequency is shown as y-value (for right)</a:t>
            </a:r>
          </a:p>
          <a:p>
            <a:endParaRPr lang="en-US" dirty="0"/>
          </a:p>
        </p:txBody>
      </p:sp>
      <p:sp>
        <p:nvSpPr>
          <p:cNvPr id="4" name="Slide Number Placeholder 3"/>
          <p:cNvSpPr>
            <a:spLocks noGrp="1"/>
          </p:cNvSpPr>
          <p:nvPr>
            <p:ph type="sldNum" sz="quarter" idx="5"/>
          </p:nvPr>
        </p:nvSpPr>
        <p:spPr/>
        <p:txBody>
          <a:bodyPr/>
          <a:lstStyle/>
          <a:p>
            <a:fld id="{FE581F96-6F0C-4D32-8A2F-B1E05FA9BECE}" type="slidenum">
              <a:rPr lang="en-US" smtClean="0"/>
              <a:t>12</a:t>
            </a:fld>
            <a:endParaRPr lang="en-US"/>
          </a:p>
        </p:txBody>
      </p:sp>
    </p:spTree>
    <p:extLst>
      <p:ext uri="{BB962C8B-B14F-4D97-AF65-F5344CB8AC3E}">
        <p14:creationId xmlns:p14="http://schemas.microsoft.com/office/powerpoint/2010/main" val="1500003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36AA9-3CCA-C550-350D-C69A88235A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C9C6F7-DD0F-495B-88C4-5F542870B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236C59-54DE-526D-1D0D-3451FF7C5B24}"/>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5" name="Footer Placeholder 4">
            <a:extLst>
              <a:ext uri="{FF2B5EF4-FFF2-40B4-BE49-F238E27FC236}">
                <a16:creationId xmlns:a16="http://schemas.microsoft.com/office/drawing/2014/main" id="{7C2A2959-4EAD-6B6A-8062-29398F8A04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84E6D4-4A96-BEB7-29DE-85593D5B03B1}"/>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1967597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70D0D-8DA0-7EF6-45D9-76E21F719E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243956-2799-0D5B-E3BF-B14B58F28E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D003D-8EB7-37B8-5F1D-5EA079D8B2A0}"/>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5" name="Footer Placeholder 4">
            <a:extLst>
              <a:ext uri="{FF2B5EF4-FFF2-40B4-BE49-F238E27FC236}">
                <a16:creationId xmlns:a16="http://schemas.microsoft.com/office/drawing/2014/main" id="{F9119ABD-AD19-65E7-0B09-4C9730C71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9F73E-A30D-6C9C-7B75-60AD12627F59}"/>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2861515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A29FF-04A1-6A9E-C6E7-604355EA0E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827D9D-4F36-FCAC-8AA4-CFDCDE5E83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96658C4-444E-00E6-FCF8-02B4A27616C8}"/>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5" name="Footer Placeholder 4">
            <a:extLst>
              <a:ext uri="{FF2B5EF4-FFF2-40B4-BE49-F238E27FC236}">
                <a16:creationId xmlns:a16="http://schemas.microsoft.com/office/drawing/2014/main" id="{83226136-E95E-C381-6F59-DFDC5D852A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FFCD4-B5F0-0DB7-E01A-BE94BE02E280}"/>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4098503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55DBA-D452-A2A0-C7C3-B7E3784DD1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D00A5B-3A86-20F1-841E-1EFAE9241D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577BCD-12A6-F586-FC98-3C952279A1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084DE42-2132-6C48-3F77-3459FF83FF3E}"/>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6" name="Footer Placeholder 5">
            <a:extLst>
              <a:ext uri="{FF2B5EF4-FFF2-40B4-BE49-F238E27FC236}">
                <a16:creationId xmlns:a16="http://schemas.microsoft.com/office/drawing/2014/main" id="{DABE79C9-F240-FE5E-6B39-124E2937F5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EFF579-CC77-BCF2-DFCE-24AD8003196B}"/>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4217747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DB9A5-B468-160E-F19C-0168D0A806B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AAEFEA-900D-140B-B9B1-F5DA0723FA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6C3A59-B051-0572-F341-EA788B2165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B57083-ED9B-E119-C6B2-79D415E3DB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2565C-F0D0-0663-809A-9CA70436FB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68014E-86AD-F206-EF62-A1E16BB9FD3D}"/>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8" name="Footer Placeholder 7">
            <a:extLst>
              <a:ext uri="{FF2B5EF4-FFF2-40B4-BE49-F238E27FC236}">
                <a16:creationId xmlns:a16="http://schemas.microsoft.com/office/drawing/2014/main" id="{0FC16EE3-7650-382D-ED5A-3C2CB04663E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07992A-A010-C2D0-17E1-679A638D3AB9}"/>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766710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7B0F7-55C8-B12D-E401-D0F24B0BED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AC73EB-231D-9605-B540-602EBA83AF39}"/>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4" name="Footer Placeholder 3">
            <a:extLst>
              <a:ext uri="{FF2B5EF4-FFF2-40B4-BE49-F238E27FC236}">
                <a16:creationId xmlns:a16="http://schemas.microsoft.com/office/drawing/2014/main" id="{968C79CA-B375-250A-37BA-9D9F9AF2F0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8016E9-883A-1396-35B2-B1BCED0FFEC5}"/>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3286388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6121F2-07EF-F623-39E7-57C1D365C378}"/>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3" name="Footer Placeholder 2">
            <a:extLst>
              <a:ext uri="{FF2B5EF4-FFF2-40B4-BE49-F238E27FC236}">
                <a16:creationId xmlns:a16="http://schemas.microsoft.com/office/drawing/2014/main" id="{91EB7249-F31D-F3D1-8CF0-6533BBD934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79FDE8-022B-56E1-1AE7-BF4315918788}"/>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355741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D0B6D-AECF-207B-DFFE-570DC910C5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AF8430-EE8A-12EA-793A-7125B90C3E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9C6A9C1-2FF7-411A-D645-A58CAC7ED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38094D-6DAB-F2E4-C0B2-9943967DB77C}"/>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6" name="Footer Placeholder 5">
            <a:extLst>
              <a:ext uri="{FF2B5EF4-FFF2-40B4-BE49-F238E27FC236}">
                <a16:creationId xmlns:a16="http://schemas.microsoft.com/office/drawing/2014/main" id="{C4C2979E-D527-5493-8CF6-5CDECBB99A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264DCC-351C-C504-7CB3-C51E82578413}"/>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4240484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91539-FDC1-9B0C-7874-58AA3E2AFD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EC47B7-AC0F-09DB-4938-D50825E18D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C9FFBD-8A1F-23EA-6EF1-DA27D83F6F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CE1B4-69D7-F009-4ED5-BC2B142ABEB5}"/>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6" name="Footer Placeholder 5">
            <a:extLst>
              <a:ext uri="{FF2B5EF4-FFF2-40B4-BE49-F238E27FC236}">
                <a16:creationId xmlns:a16="http://schemas.microsoft.com/office/drawing/2014/main" id="{E6F2FDEA-E644-CA38-0F48-4D928C9443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611852-7EC6-6B91-CAB2-6B97AD4F89B9}"/>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1739473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321A8-7D09-27DC-F236-1BB976DA6A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374C75-22AE-CEFF-D075-76C8A8AAB2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45AA92-D4B5-1F32-07AB-F91EAFD09F00}"/>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5" name="Footer Placeholder 4">
            <a:extLst>
              <a:ext uri="{FF2B5EF4-FFF2-40B4-BE49-F238E27FC236}">
                <a16:creationId xmlns:a16="http://schemas.microsoft.com/office/drawing/2014/main" id="{246E310C-FB93-B69E-013A-7D1FC97D53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380F88-AF76-086A-A239-3D08D6107042}"/>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664528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4B4B81-8D5A-1FD8-7BA4-F0994F9441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77EC44-7370-A8C1-5970-2057C4679E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6313A-B710-710D-1088-8E3DA2A34A3C}"/>
              </a:ext>
            </a:extLst>
          </p:cNvPr>
          <p:cNvSpPr>
            <a:spLocks noGrp="1"/>
          </p:cNvSpPr>
          <p:nvPr>
            <p:ph type="dt" sz="half" idx="10"/>
          </p:nvPr>
        </p:nvSpPr>
        <p:spPr/>
        <p:txBody>
          <a:bodyPr/>
          <a:lstStyle/>
          <a:p>
            <a:fld id="{26AD908B-B994-42D2-B02B-642E361402EC}" type="datetimeFigureOut">
              <a:rPr lang="en-US" smtClean="0"/>
              <a:t>12/4/2025</a:t>
            </a:fld>
            <a:endParaRPr lang="en-US"/>
          </a:p>
        </p:txBody>
      </p:sp>
      <p:sp>
        <p:nvSpPr>
          <p:cNvPr id="5" name="Footer Placeholder 4">
            <a:extLst>
              <a:ext uri="{FF2B5EF4-FFF2-40B4-BE49-F238E27FC236}">
                <a16:creationId xmlns:a16="http://schemas.microsoft.com/office/drawing/2014/main" id="{ED346B6B-0DBF-7A40-AE47-7C688F763B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DC47A3-8263-2492-95C2-E1FCCE661DDA}"/>
              </a:ext>
            </a:extLst>
          </p:cNvPr>
          <p:cNvSpPr>
            <a:spLocks noGrp="1"/>
          </p:cNvSpPr>
          <p:nvPr>
            <p:ph type="sldNum" sz="quarter" idx="12"/>
          </p:nvPr>
        </p:nvSpPr>
        <p:spPr/>
        <p:txBody>
          <a:bodyPr/>
          <a:lstStyle/>
          <a:p>
            <a:fld id="{1C14173C-6FF8-45D9-B66A-BBEAA1ED4E7F}" type="slidenum">
              <a:rPr lang="en-US" smtClean="0"/>
              <a:t>‹#›</a:t>
            </a:fld>
            <a:endParaRPr lang="en-US"/>
          </a:p>
        </p:txBody>
      </p:sp>
    </p:spTree>
    <p:extLst>
      <p:ext uri="{BB962C8B-B14F-4D97-AF65-F5344CB8AC3E}">
        <p14:creationId xmlns:p14="http://schemas.microsoft.com/office/powerpoint/2010/main" val="3598426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EC238E-F8E6-E3A2-B499-5F62F32A43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0C3D8-8CA9-C019-A23D-9FD6027651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A36FD9-1825-89DA-4E0A-0BDE67814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AD908B-B994-42D2-B02B-642E361402EC}" type="datetimeFigureOut">
              <a:rPr lang="en-US" smtClean="0"/>
              <a:t>12/4/2025</a:t>
            </a:fld>
            <a:endParaRPr lang="en-US"/>
          </a:p>
        </p:txBody>
      </p:sp>
      <p:sp>
        <p:nvSpPr>
          <p:cNvPr id="5" name="Footer Placeholder 4">
            <a:extLst>
              <a:ext uri="{FF2B5EF4-FFF2-40B4-BE49-F238E27FC236}">
                <a16:creationId xmlns:a16="http://schemas.microsoft.com/office/drawing/2014/main" id="{AC4CAA7E-9369-8394-B6F7-F0EEAF2705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01B06CA-4465-1E82-E433-BAB569A134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14173C-6FF8-45D9-B66A-BBEAA1ED4E7F}" type="slidenum">
              <a:rPr lang="en-US" smtClean="0"/>
              <a:t>‹#›</a:t>
            </a:fld>
            <a:endParaRPr lang="en-US"/>
          </a:p>
        </p:txBody>
      </p:sp>
    </p:spTree>
    <p:extLst>
      <p:ext uri="{BB962C8B-B14F-4D97-AF65-F5344CB8AC3E}">
        <p14:creationId xmlns:p14="http://schemas.microsoft.com/office/powerpoint/2010/main" val="3183216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pandas.pydata.org/docs/index.html" TargetMode="External"/><Relationship Id="rId2" Type="http://schemas.openxmlformats.org/officeDocument/2006/relationships/hyperlink" Target="https://www.kaggle.com/datasets/hanaksoy/customer-purchasing-behavior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3429A-D03B-7FD2-4D2F-D9CD818F21BA}"/>
              </a:ext>
            </a:extLst>
          </p:cNvPr>
          <p:cNvSpPr>
            <a:spLocks noGrp="1"/>
          </p:cNvSpPr>
          <p:nvPr>
            <p:ph type="ctrTitle"/>
          </p:nvPr>
        </p:nvSpPr>
        <p:spPr/>
        <p:txBody>
          <a:bodyPr/>
          <a:lstStyle/>
          <a:p>
            <a:r>
              <a:rPr lang="en-US" dirty="0"/>
              <a:t>Final Analysis Project</a:t>
            </a:r>
          </a:p>
        </p:txBody>
      </p:sp>
      <p:sp>
        <p:nvSpPr>
          <p:cNvPr id="3" name="Subtitle 2">
            <a:extLst>
              <a:ext uri="{FF2B5EF4-FFF2-40B4-BE49-F238E27FC236}">
                <a16:creationId xmlns:a16="http://schemas.microsoft.com/office/drawing/2014/main" id="{8B11E90E-EBD8-FBB9-7873-C1CA0A890E17}"/>
              </a:ext>
            </a:extLst>
          </p:cNvPr>
          <p:cNvSpPr>
            <a:spLocks noGrp="1"/>
          </p:cNvSpPr>
          <p:nvPr>
            <p:ph type="subTitle" idx="1"/>
          </p:nvPr>
        </p:nvSpPr>
        <p:spPr/>
        <p:txBody>
          <a:bodyPr/>
          <a:lstStyle/>
          <a:p>
            <a:r>
              <a:rPr lang="en-US" dirty="0"/>
              <a:t>Elizabeth Arredondo</a:t>
            </a:r>
          </a:p>
        </p:txBody>
      </p:sp>
    </p:spTree>
    <p:extLst>
      <p:ext uri="{BB962C8B-B14F-4D97-AF65-F5344CB8AC3E}">
        <p14:creationId xmlns:p14="http://schemas.microsoft.com/office/powerpoint/2010/main" val="1955945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EC891-F59E-753B-76FA-F4D9EF7C37E9}"/>
              </a:ext>
            </a:extLst>
          </p:cNvPr>
          <p:cNvSpPr>
            <a:spLocks noGrp="1"/>
          </p:cNvSpPr>
          <p:nvPr>
            <p:ph type="title"/>
          </p:nvPr>
        </p:nvSpPr>
        <p:spPr/>
        <p:txBody>
          <a:bodyPr/>
          <a:lstStyle/>
          <a:p>
            <a:r>
              <a:rPr lang="en-US" dirty="0"/>
              <a:t>Insight 1</a:t>
            </a:r>
          </a:p>
        </p:txBody>
      </p:sp>
      <p:sp>
        <p:nvSpPr>
          <p:cNvPr id="3" name="Text Placeholder 2">
            <a:extLst>
              <a:ext uri="{FF2B5EF4-FFF2-40B4-BE49-F238E27FC236}">
                <a16:creationId xmlns:a16="http://schemas.microsoft.com/office/drawing/2014/main" id="{94166EE3-3EF5-056A-6172-EF6B37720DF6}"/>
              </a:ext>
            </a:extLst>
          </p:cNvPr>
          <p:cNvSpPr>
            <a:spLocks noGrp="1"/>
          </p:cNvSpPr>
          <p:nvPr>
            <p:ph type="body" idx="1"/>
          </p:nvPr>
        </p:nvSpPr>
        <p:spPr/>
        <p:txBody>
          <a:bodyPr/>
          <a:lstStyle/>
          <a:p>
            <a:r>
              <a:rPr lang="en-US" dirty="0"/>
              <a:t>Question – When do most purchases occur?</a:t>
            </a:r>
          </a:p>
        </p:txBody>
      </p:sp>
    </p:spTree>
    <p:extLst>
      <p:ext uri="{BB962C8B-B14F-4D97-AF65-F5344CB8AC3E}">
        <p14:creationId xmlns:p14="http://schemas.microsoft.com/office/powerpoint/2010/main" val="2052168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7523512C-2AAF-9277-D251-A111CD652017}"/>
              </a:ext>
            </a:extLst>
          </p:cNvPr>
          <p:cNvSpPr txBox="1"/>
          <p:nvPr/>
        </p:nvSpPr>
        <p:spPr>
          <a:xfrm>
            <a:off x="622296" y="1159842"/>
            <a:ext cx="10536771" cy="5355312"/>
          </a:xfrm>
          <a:prstGeom prst="rect">
            <a:avLst/>
          </a:prstGeom>
          <a:noFill/>
        </p:spPr>
        <p:txBody>
          <a:bodyPr wrap="square" rtlCol="0">
            <a:spAutoFit/>
          </a:bodyPr>
          <a:lstStyle/>
          <a:p>
            <a:r>
              <a:rPr lang="en-US" dirty="0"/>
              <a:t>Higher number of purchases (red) tend to occur </a:t>
            </a:r>
          </a:p>
          <a:p>
            <a:pPr marL="742950" lvl="1" indent="-285750">
              <a:buFont typeface="Arial" panose="020B0604020202020204" pitchFamily="34" charset="0"/>
              <a:buChar char="•"/>
            </a:pPr>
            <a:r>
              <a:rPr lang="en-US" dirty="0"/>
              <a:t>closer to major holidays (yellow)</a:t>
            </a:r>
          </a:p>
          <a:p>
            <a:pPr marL="742950" lvl="1" indent="-285750">
              <a:buFont typeface="Arial" panose="020B0604020202020204" pitchFamily="34" charset="0"/>
              <a:buChar char="•"/>
            </a:pPr>
            <a:r>
              <a:rPr lang="en-US" dirty="0"/>
              <a:t>during the summer months when school is not in session (May – August)</a:t>
            </a:r>
          </a:p>
          <a:p>
            <a:r>
              <a:rPr lang="en-US" dirty="0"/>
              <a:t>Lowest number of purchases (blue) tend to occur</a:t>
            </a:r>
          </a:p>
          <a:p>
            <a:pPr marL="742950" lvl="1" indent="-285750">
              <a:buFont typeface="Arial" panose="020B0604020202020204" pitchFamily="34" charset="0"/>
              <a:buChar char="•"/>
            </a:pPr>
            <a:r>
              <a:rPr lang="en-US" dirty="0"/>
              <a:t>During Q1 (Jan – Mar) and Q4 (Oct – Dec)</a:t>
            </a:r>
          </a:p>
          <a:p>
            <a:endParaRPr lang="en-US" dirty="0"/>
          </a:p>
          <a:p>
            <a:r>
              <a:rPr lang="en-US" dirty="0"/>
              <a:t>Higher number of purchases contain – </a:t>
            </a:r>
          </a:p>
          <a:p>
            <a:pPr marL="742950" lvl="1" indent="-285750">
              <a:buFont typeface="Arial" panose="020B0604020202020204" pitchFamily="34" charset="0"/>
              <a:buChar char="•"/>
            </a:pPr>
            <a:r>
              <a:rPr lang="en-US" dirty="0"/>
              <a:t>Soft drinks</a:t>
            </a:r>
          </a:p>
          <a:p>
            <a:pPr marL="742950" lvl="1" indent="-285750">
              <a:buFont typeface="Arial" panose="020B0604020202020204" pitchFamily="34" charset="0"/>
              <a:buChar char="•"/>
            </a:pPr>
            <a:r>
              <a:rPr lang="en-US" dirty="0"/>
              <a:t>Cheese</a:t>
            </a:r>
          </a:p>
          <a:p>
            <a:pPr marL="742950" lvl="1" indent="-285750">
              <a:buFont typeface="Arial" panose="020B0604020202020204" pitchFamily="34" charset="0"/>
              <a:buChar char="•"/>
            </a:pPr>
            <a:r>
              <a:rPr lang="en-US" dirty="0"/>
              <a:t>Bag snacks</a:t>
            </a:r>
          </a:p>
          <a:p>
            <a:pPr marL="742950" lvl="1" indent="-285750">
              <a:buFont typeface="Arial" panose="020B0604020202020204" pitchFamily="34" charset="0"/>
              <a:buChar char="•"/>
            </a:pPr>
            <a:r>
              <a:rPr lang="en-US" dirty="0"/>
              <a:t>Baked bread/buns/rolls</a:t>
            </a:r>
          </a:p>
          <a:p>
            <a:pPr marL="742950" lvl="1" indent="-285750">
              <a:buFont typeface="Arial" panose="020B0604020202020204" pitchFamily="34" charset="0"/>
              <a:buChar char="•"/>
            </a:pPr>
            <a:r>
              <a:rPr lang="en-US" dirty="0"/>
              <a:t>Candy – packaged</a:t>
            </a:r>
          </a:p>
          <a:p>
            <a:endParaRPr lang="en-US" dirty="0"/>
          </a:p>
          <a:p>
            <a:r>
              <a:rPr lang="en-US" dirty="0"/>
              <a:t>Higher number of purchases tend to not contain – </a:t>
            </a:r>
          </a:p>
          <a:p>
            <a:pPr marL="742950" lvl="1" indent="-285750">
              <a:buFont typeface="Arial" panose="020B0604020202020204" pitchFamily="34" charset="0"/>
              <a:buChar char="•"/>
            </a:pPr>
            <a:r>
              <a:rPr lang="en-US" dirty="0"/>
              <a:t>Miscellaneous seafood</a:t>
            </a:r>
          </a:p>
          <a:p>
            <a:pPr marL="742950" lvl="1" indent="-285750">
              <a:buFont typeface="Arial" panose="020B0604020202020204" pitchFamily="34" charset="0"/>
              <a:buChar char="•"/>
            </a:pPr>
            <a:r>
              <a:rPr lang="en-US" dirty="0"/>
              <a:t>Tomatoes</a:t>
            </a:r>
          </a:p>
          <a:p>
            <a:pPr marL="742950" lvl="1" indent="-285750">
              <a:buFont typeface="Arial" panose="020B0604020202020204" pitchFamily="34" charset="0"/>
              <a:buChar char="•"/>
            </a:pPr>
            <a:r>
              <a:rPr lang="en-US" dirty="0"/>
              <a:t>Stationery and school supplies</a:t>
            </a:r>
          </a:p>
          <a:p>
            <a:pPr marL="742950" lvl="1" indent="-285750">
              <a:buFont typeface="Arial" panose="020B0604020202020204" pitchFamily="34" charset="0"/>
              <a:buChar char="•"/>
            </a:pPr>
            <a:r>
              <a:rPr lang="en-US" dirty="0"/>
              <a:t>Water</a:t>
            </a:r>
          </a:p>
          <a:p>
            <a:pPr marL="742950" lvl="1" indent="-285750">
              <a:buFont typeface="Arial" panose="020B0604020202020204" pitchFamily="34" charset="0"/>
              <a:buChar char="•"/>
            </a:pPr>
            <a:r>
              <a:rPr lang="en-US" dirty="0"/>
              <a:t>yogurt</a:t>
            </a:r>
          </a:p>
        </p:txBody>
      </p:sp>
      <p:sp>
        <p:nvSpPr>
          <p:cNvPr id="18" name="Title 1">
            <a:extLst>
              <a:ext uri="{FF2B5EF4-FFF2-40B4-BE49-F238E27FC236}">
                <a16:creationId xmlns:a16="http://schemas.microsoft.com/office/drawing/2014/main" id="{0197ABDE-69A2-439E-5900-B66B217BAEAA}"/>
              </a:ext>
            </a:extLst>
          </p:cNvPr>
          <p:cNvSpPr>
            <a:spLocks noGrp="1"/>
          </p:cNvSpPr>
          <p:nvPr>
            <p:ph type="title"/>
          </p:nvPr>
        </p:nvSpPr>
        <p:spPr>
          <a:xfrm>
            <a:off x="622296" y="0"/>
            <a:ext cx="5562600" cy="1325563"/>
          </a:xfrm>
        </p:spPr>
        <p:txBody>
          <a:bodyPr/>
          <a:lstStyle/>
          <a:p>
            <a:r>
              <a:rPr lang="en-US" dirty="0"/>
              <a:t>Findings</a:t>
            </a:r>
          </a:p>
        </p:txBody>
      </p:sp>
      <p:pic>
        <p:nvPicPr>
          <p:cNvPr id="3" name="Picture 2">
            <a:extLst>
              <a:ext uri="{FF2B5EF4-FFF2-40B4-BE49-F238E27FC236}">
                <a16:creationId xmlns:a16="http://schemas.microsoft.com/office/drawing/2014/main" id="{968241A8-B36B-3961-A028-19D53A690BA4}"/>
              </a:ext>
            </a:extLst>
          </p:cNvPr>
          <p:cNvPicPr>
            <a:picLocks noChangeAspect="1"/>
          </p:cNvPicPr>
          <p:nvPr/>
        </p:nvPicPr>
        <p:blipFill>
          <a:blip r:embed="rId2"/>
          <a:stretch>
            <a:fillRect/>
          </a:stretch>
        </p:blipFill>
        <p:spPr>
          <a:xfrm>
            <a:off x="6184896" y="2124129"/>
            <a:ext cx="5172075" cy="4467225"/>
          </a:xfrm>
          <a:prstGeom prst="rect">
            <a:avLst/>
          </a:prstGeom>
        </p:spPr>
      </p:pic>
    </p:spTree>
    <p:extLst>
      <p:ext uri="{BB962C8B-B14F-4D97-AF65-F5344CB8AC3E}">
        <p14:creationId xmlns:p14="http://schemas.microsoft.com/office/powerpoint/2010/main" val="3737608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calendar with numbers and a few months&#10;&#10;AI-generated content may be incorrect.">
            <a:extLst>
              <a:ext uri="{FF2B5EF4-FFF2-40B4-BE49-F238E27FC236}">
                <a16:creationId xmlns:a16="http://schemas.microsoft.com/office/drawing/2014/main" id="{A7D9A702-BC0A-FFCA-240E-AFA30E7D2546}"/>
              </a:ext>
            </a:extLst>
          </p:cNvPr>
          <p:cNvPicPr>
            <a:picLocks noChangeAspect="1"/>
          </p:cNvPicPr>
          <p:nvPr/>
        </p:nvPicPr>
        <p:blipFill>
          <a:blip r:embed="rId2">
            <a:extLst>
              <a:ext uri="{28A0092B-C50C-407E-A947-70E740481C1C}">
                <a14:useLocalDpi xmlns:a14="http://schemas.microsoft.com/office/drawing/2010/main" val="0"/>
              </a:ext>
            </a:extLst>
          </a:blip>
          <a:srcRect b="5185"/>
          <a:stretch>
            <a:fillRect/>
          </a:stretch>
        </p:blipFill>
        <p:spPr>
          <a:xfrm>
            <a:off x="3412191" y="-1"/>
            <a:ext cx="5409591" cy="6879095"/>
          </a:xfrm>
          <a:prstGeom prst="rect">
            <a:avLst/>
          </a:prstGeom>
        </p:spPr>
      </p:pic>
      <p:sp>
        <p:nvSpPr>
          <p:cNvPr id="13" name="TextBox 12">
            <a:extLst>
              <a:ext uri="{FF2B5EF4-FFF2-40B4-BE49-F238E27FC236}">
                <a16:creationId xmlns:a16="http://schemas.microsoft.com/office/drawing/2014/main" id="{41409346-2E35-D29A-1C34-DD4B5BB2924F}"/>
              </a:ext>
            </a:extLst>
          </p:cNvPr>
          <p:cNvSpPr txBox="1"/>
          <p:nvPr/>
        </p:nvSpPr>
        <p:spPr>
          <a:xfrm>
            <a:off x="3679107" y="58459"/>
            <a:ext cx="2022292" cy="262847"/>
          </a:xfrm>
          <a:prstGeom prst="rect">
            <a:avLst/>
          </a:prstGeom>
          <a:noFill/>
        </p:spPr>
        <p:txBody>
          <a:bodyPr wrap="square" rtlCol="0">
            <a:spAutoFit/>
          </a:bodyPr>
          <a:lstStyle/>
          <a:p>
            <a:r>
              <a:rPr lang="en-US" sz="1100" dirty="0"/>
              <a:t>Highest number of purchases</a:t>
            </a:r>
          </a:p>
        </p:txBody>
      </p:sp>
      <p:sp>
        <p:nvSpPr>
          <p:cNvPr id="14" name="TextBox 13">
            <a:extLst>
              <a:ext uri="{FF2B5EF4-FFF2-40B4-BE49-F238E27FC236}">
                <a16:creationId xmlns:a16="http://schemas.microsoft.com/office/drawing/2014/main" id="{E47A9B31-00B2-8D81-E6C3-D651E3BCFB7E}"/>
              </a:ext>
            </a:extLst>
          </p:cNvPr>
          <p:cNvSpPr txBox="1"/>
          <p:nvPr/>
        </p:nvSpPr>
        <p:spPr>
          <a:xfrm>
            <a:off x="3682877" y="420864"/>
            <a:ext cx="2022292" cy="262847"/>
          </a:xfrm>
          <a:prstGeom prst="rect">
            <a:avLst/>
          </a:prstGeom>
          <a:noFill/>
        </p:spPr>
        <p:txBody>
          <a:bodyPr wrap="square" rtlCol="0">
            <a:spAutoFit/>
          </a:bodyPr>
          <a:lstStyle/>
          <a:p>
            <a:r>
              <a:rPr lang="en-US" sz="1100" dirty="0"/>
              <a:t>Lowest number of purchases</a:t>
            </a:r>
          </a:p>
        </p:txBody>
      </p:sp>
      <p:sp>
        <p:nvSpPr>
          <p:cNvPr id="15" name="TextBox 14">
            <a:extLst>
              <a:ext uri="{FF2B5EF4-FFF2-40B4-BE49-F238E27FC236}">
                <a16:creationId xmlns:a16="http://schemas.microsoft.com/office/drawing/2014/main" id="{C0C2CAAD-49E5-5B1F-413A-8C920C189FC1}"/>
              </a:ext>
            </a:extLst>
          </p:cNvPr>
          <p:cNvSpPr txBox="1"/>
          <p:nvPr/>
        </p:nvSpPr>
        <p:spPr>
          <a:xfrm>
            <a:off x="3708274" y="806682"/>
            <a:ext cx="2022292" cy="262847"/>
          </a:xfrm>
          <a:prstGeom prst="rect">
            <a:avLst/>
          </a:prstGeom>
          <a:noFill/>
        </p:spPr>
        <p:txBody>
          <a:bodyPr wrap="square" rtlCol="0">
            <a:spAutoFit/>
          </a:bodyPr>
          <a:lstStyle/>
          <a:p>
            <a:r>
              <a:rPr lang="en-US" sz="1100" dirty="0"/>
              <a:t>Major American Holidays</a:t>
            </a:r>
          </a:p>
        </p:txBody>
      </p:sp>
    </p:spTree>
    <p:extLst>
      <p:ext uri="{BB962C8B-B14F-4D97-AF65-F5344CB8AC3E}">
        <p14:creationId xmlns:p14="http://schemas.microsoft.com/office/powerpoint/2010/main" val="4228960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23E248B9-5B6E-D44B-50A4-ABE428C5A205}"/>
              </a:ext>
            </a:extLst>
          </p:cNvPr>
          <p:cNvSpPr txBox="1">
            <a:spLocks/>
          </p:cNvSpPr>
          <p:nvPr/>
        </p:nvSpPr>
        <p:spPr>
          <a:xfrm>
            <a:off x="275161" y="102192"/>
            <a:ext cx="5562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Insight for Businesses</a:t>
            </a:r>
          </a:p>
        </p:txBody>
      </p:sp>
      <p:sp>
        <p:nvSpPr>
          <p:cNvPr id="21" name="TextBox 20">
            <a:extLst>
              <a:ext uri="{FF2B5EF4-FFF2-40B4-BE49-F238E27FC236}">
                <a16:creationId xmlns:a16="http://schemas.microsoft.com/office/drawing/2014/main" id="{5CA092C7-13AF-E4F7-C635-311959C2CB2E}"/>
              </a:ext>
            </a:extLst>
          </p:cNvPr>
          <p:cNvSpPr txBox="1"/>
          <p:nvPr/>
        </p:nvSpPr>
        <p:spPr>
          <a:xfrm>
            <a:off x="275160" y="1278567"/>
            <a:ext cx="11281839" cy="4247317"/>
          </a:xfrm>
          <a:prstGeom prst="rect">
            <a:avLst/>
          </a:prstGeom>
          <a:noFill/>
        </p:spPr>
        <p:txBody>
          <a:bodyPr wrap="square" rtlCol="0">
            <a:spAutoFit/>
          </a:bodyPr>
          <a:lstStyle/>
          <a:p>
            <a:r>
              <a:rPr lang="en-US" dirty="0"/>
              <a:t>Grocery stores should increase stock of </a:t>
            </a:r>
          </a:p>
          <a:p>
            <a:pPr marL="800100" lvl="1" indent="-342900">
              <a:buFont typeface="Arial" panose="020B0604020202020204" pitchFamily="34" charset="0"/>
              <a:buChar char="•"/>
            </a:pPr>
            <a:r>
              <a:rPr lang="en-US" dirty="0"/>
              <a:t>Soft drinks</a:t>
            </a:r>
          </a:p>
          <a:p>
            <a:pPr marL="800100" lvl="1" indent="-342900">
              <a:buFont typeface="Arial" panose="020B0604020202020204" pitchFamily="34" charset="0"/>
              <a:buChar char="•"/>
            </a:pPr>
            <a:r>
              <a:rPr lang="en-US" dirty="0"/>
              <a:t>Cheese</a:t>
            </a:r>
          </a:p>
          <a:p>
            <a:pPr marL="800100" lvl="1" indent="-342900">
              <a:buFont typeface="Arial" panose="020B0604020202020204" pitchFamily="34" charset="0"/>
              <a:buChar char="•"/>
            </a:pPr>
            <a:r>
              <a:rPr lang="en-US" dirty="0"/>
              <a:t>Bag snacks</a:t>
            </a:r>
          </a:p>
          <a:p>
            <a:pPr marL="800100" lvl="1" indent="-342900">
              <a:buFont typeface="Arial" panose="020B0604020202020204" pitchFamily="34" charset="0"/>
              <a:buChar char="•"/>
            </a:pPr>
            <a:r>
              <a:rPr lang="en-US" dirty="0"/>
              <a:t>Baked bread, buns, rolls</a:t>
            </a:r>
          </a:p>
          <a:p>
            <a:pPr marL="800100" lvl="1" indent="-342900">
              <a:buFont typeface="Arial" panose="020B0604020202020204" pitchFamily="34" charset="0"/>
              <a:buChar char="•"/>
            </a:pPr>
            <a:r>
              <a:rPr lang="en-US" dirty="0"/>
              <a:t>Packaged candy</a:t>
            </a:r>
          </a:p>
          <a:p>
            <a:pPr lvl="1"/>
            <a:r>
              <a:rPr lang="en-US" dirty="0"/>
              <a:t>Closer to major holidays and during the summer months</a:t>
            </a:r>
          </a:p>
          <a:p>
            <a:endParaRPr lang="en-US" dirty="0"/>
          </a:p>
          <a:p>
            <a:r>
              <a:rPr lang="en-US" dirty="0"/>
              <a:t>Grocery stores should decrease stock of </a:t>
            </a:r>
          </a:p>
          <a:p>
            <a:pPr marL="742950" lvl="1" indent="-285750">
              <a:buFont typeface="Arial" panose="020B0604020202020204" pitchFamily="34" charset="0"/>
              <a:buChar char="•"/>
            </a:pPr>
            <a:r>
              <a:rPr lang="en-US" dirty="0"/>
              <a:t>Miscellaneous seafood</a:t>
            </a:r>
          </a:p>
          <a:p>
            <a:pPr marL="742950" lvl="1" indent="-285750">
              <a:buFont typeface="Arial" panose="020B0604020202020204" pitchFamily="34" charset="0"/>
              <a:buChar char="•"/>
            </a:pPr>
            <a:r>
              <a:rPr lang="en-US" dirty="0"/>
              <a:t>Tomatoes</a:t>
            </a:r>
          </a:p>
          <a:p>
            <a:pPr marL="742950" lvl="1" indent="-285750">
              <a:buFont typeface="Arial" panose="020B0604020202020204" pitchFamily="34" charset="0"/>
              <a:buChar char="•"/>
            </a:pPr>
            <a:r>
              <a:rPr lang="en-US" dirty="0"/>
              <a:t>Stationery and school supplies</a:t>
            </a:r>
          </a:p>
          <a:p>
            <a:pPr marL="742950" lvl="1" indent="-285750">
              <a:buFont typeface="Arial" panose="020B0604020202020204" pitchFamily="34" charset="0"/>
              <a:buChar char="•"/>
            </a:pPr>
            <a:r>
              <a:rPr lang="en-US" dirty="0"/>
              <a:t>Water</a:t>
            </a:r>
          </a:p>
          <a:p>
            <a:pPr marL="742950" lvl="1" indent="-285750">
              <a:buFont typeface="Arial" panose="020B0604020202020204" pitchFamily="34" charset="0"/>
              <a:buChar char="•"/>
            </a:pPr>
            <a:r>
              <a:rPr lang="en-US" dirty="0"/>
              <a:t>yogurt</a:t>
            </a:r>
          </a:p>
          <a:p>
            <a:pPr lvl="1"/>
            <a:r>
              <a:rPr lang="en-US" dirty="0"/>
              <a:t>Closer to major holidays and during summer months</a:t>
            </a:r>
          </a:p>
        </p:txBody>
      </p:sp>
    </p:spTree>
    <p:extLst>
      <p:ext uri="{BB962C8B-B14F-4D97-AF65-F5344CB8AC3E}">
        <p14:creationId xmlns:p14="http://schemas.microsoft.com/office/powerpoint/2010/main" val="4009663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4D3EB-244C-02CF-A731-CCB4AA54D6A8}"/>
              </a:ext>
            </a:extLst>
          </p:cNvPr>
          <p:cNvSpPr>
            <a:spLocks noGrp="1"/>
          </p:cNvSpPr>
          <p:nvPr>
            <p:ph type="title"/>
          </p:nvPr>
        </p:nvSpPr>
        <p:spPr/>
        <p:txBody>
          <a:bodyPr/>
          <a:lstStyle/>
          <a:p>
            <a:r>
              <a:rPr lang="en-US" dirty="0"/>
              <a:t>Insight 2</a:t>
            </a:r>
          </a:p>
        </p:txBody>
      </p:sp>
      <p:sp>
        <p:nvSpPr>
          <p:cNvPr id="3" name="Text Placeholder 2">
            <a:extLst>
              <a:ext uri="{FF2B5EF4-FFF2-40B4-BE49-F238E27FC236}">
                <a16:creationId xmlns:a16="http://schemas.microsoft.com/office/drawing/2014/main" id="{02C29760-EB41-65CE-6BBD-92DA3C2E157D}"/>
              </a:ext>
            </a:extLst>
          </p:cNvPr>
          <p:cNvSpPr>
            <a:spLocks noGrp="1"/>
          </p:cNvSpPr>
          <p:nvPr>
            <p:ph type="body" idx="1"/>
          </p:nvPr>
        </p:nvSpPr>
        <p:spPr/>
        <p:txBody>
          <a:bodyPr/>
          <a:lstStyle/>
          <a:p>
            <a:r>
              <a:rPr lang="en-US" dirty="0"/>
              <a:t>Question - Are there advertisement events that coincide with high item purchasing dates? Where do these items’ display locations tend to be located? And are items purchased most on low item purchasing dates from similar display locations?</a:t>
            </a:r>
          </a:p>
        </p:txBody>
      </p:sp>
    </p:spTree>
    <p:extLst>
      <p:ext uri="{BB962C8B-B14F-4D97-AF65-F5344CB8AC3E}">
        <p14:creationId xmlns:p14="http://schemas.microsoft.com/office/powerpoint/2010/main" val="2468512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76961-AB1D-DD12-B1A4-F0F4D58F7487}"/>
              </a:ext>
            </a:extLst>
          </p:cNvPr>
          <p:cNvSpPr>
            <a:spLocks noGrp="1"/>
          </p:cNvSpPr>
          <p:nvPr>
            <p:ph type="title"/>
          </p:nvPr>
        </p:nvSpPr>
        <p:spPr/>
        <p:txBody>
          <a:bodyPr/>
          <a:lstStyle/>
          <a:p>
            <a:r>
              <a:rPr lang="en-US" dirty="0"/>
              <a:t>Findings</a:t>
            </a:r>
          </a:p>
        </p:txBody>
      </p:sp>
      <p:sp>
        <p:nvSpPr>
          <p:cNvPr id="3" name="Content Placeholder 2">
            <a:extLst>
              <a:ext uri="{FF2B5EF4-FFF2-40B4-BE49-F238E27FC236}">
                <a16:creationId xmlns:a16="http://schemas.microsoft.com/office/drawing/2014/main" id="{557B949E-7009-C97D-1540-B37B9E5CEBA7}"/>
              </a:ext>
            </a:extLst>
          </p:cNvPr>
          <p:cNvSpPr>
            <a:spLocks noGrp="1"/>
          </p:cNvSpPr>
          <p:nvPr>
            <p:ph idx="1"/>
          </p:nvPr>
        </p:nvSpPr>
        <p:spPr/>
        <p:txBody>
          <a:bodyPr>
            <a:normAutofit/>
          </a:bodyPr>
          <a:lstStyle/>
          <a:p>
            <a:r>
              <a:rPr lang="en-US" dirty="0"/>
              <a:t>Dates that coincide with total number of coupon campaigns – </a:t>
            </a:r>
          </a:p>
          <a:p>
            <a:pPr lvl="1"/>
            <a:r>
              <a:rPr lang="en-US" dirty="0"/>
              <a:t>June 30 – 6 </a:t>
            </a:r>
          </a:p>
          <a:p>
            <a:pPr lvl="1"/>
            <a:r>
              <a:rPr lang="en-US" dirty="0"/>
              <a:t>March 4 – 97 </a:t>
            </a:r>
          </a:p>
          <a:p>
            <a:pPr lvl="1"/>
            <a:r>
              <a:rPr lang="en-US" dirty="0"/>
              <a:t>May 24 – 210</a:t>
            </a:r>
          </a:p>
          <a:p>
            <a:r>
              <a:rPr lang="en-US" dirty="0"/>
              <a:t>Top products bought –</a:t>
            </a:r>
          </a:p>
          <a:p>
            <a:pPr lvl="1"/>
            <a:r>
              <a:rPr lang="en-US" dirty="0"/>
              <a:t>Fluid white milk</a:t>
            </a:r>
          </a:p>
          <a:p>
            <a:pPr lvl="1"/>
            <a:r>
              <a:rPr lang="en-US" dirty="0"/>
              <a:t>Frozen SS premium entrees, dinners</a:t>
            </a:r>
          </a:p>
          <a:p>
            <a:pPr lvl="1"/>
            <a:r>
              <a:rPr lang="en-US" dirty="0"/>
              <a:t>IWS single cheese</a:t>
            </a:r>
          </a:p>
          <a:p>
            <a:pPr lvl="1"/>
            <a:r>
              <a:rPr lang="en-US" dirty="0"/>
              <a:t>Shredded cheese</a:t>
            </a:r>
          </a:p>
          <a:p>
            <a:pPr lvl="1"/>
            <a:r>
              <a:rPr lang="en-US" dirty="0"/>
              <a:t>Frozen French fries</a:t>
            </a:r>
          </a:p>
        </p:txBody>
      </p:sp>
      <p:pic>
        <p:nvPicPr>
          <p:cNvPr id="5" name="Picture 4">
            <a:extLst>
              <a:ext uri="{FF2B5EF4-FFF2-40B4-BE49-F238E27FC236}">
                <a16:creationId xmlns:a16="http://schemas.microsoft.com/office/drawing/2014/main" id="{DE47F815-2310-39F2-C1B3-6F1E80A1CBE5}"/>
              </a:ext>
            </a:extLst>
          </p:cNvPr>
          <p:cNvPicPr>
            <a:picLocks noChangeAspect="1"/>
          </p:cNvPicPr>
          <p:nvPr/>
        </p:nvPicPr>
        <p:blipFill>
          <a:blip r:embed="rId2"/>
          <a:stretch>
            <a:fillRect/>
          </a:stretch>
        </p:blipFill>
        <p:spPr>
          <a:xfrm>
            <a:off x="6598073" y="2380901"/>
            <a:ext cx="4467860" cy="3796062"/>
          </a:xfrm>
          <a:prstGeom prst="rect">
            <a:avLst/>
          </a:prstGeom>
        </p:spPr>
      </p:pic>
    </p:spTree>
    <p:extLst>
      <p:ext uri="{BB962C8B-B14F-4D97-AF65-F5344CB8AC3E}">
        <p14:creationId xmlns:p14="http://schemas.microsoft.com/office/powerpoint/2010/main" val="650708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9B094-A904-049D-B5B3-364849998849}"/>
              </a:ext>
            </a:extLst>
          </p:cNvPr>
          <p:cNvSpPr>
            <a:spLocks noGrp="1"/>
          </p:cNvSpPr>
          <p:nvPr>
            <p:ph type="title"/>
          </p:nvPr>
        </p:nvSpPr>
        <p:spPr/>
        <p:txBody>
          <a:bodyPr/>
          <a:lstStyle/>
          <a:p>
            <a:r>
              <a:rPr lang="en-US" dirty="0"/>
              <a:t>Findings – Item Display Location Comparison</a:t>
            </a:r>
          </a:p>
        </p:txBody>
      </p:sp>
      <p:sp>
        <p:nvSpPr>
          <p:cNvPr id="4" name="Text Placeholder 3">
            <a:extLst>
              <a:ext uri="{FF2B5EF4-FFF2-40B4-BE49-F238E27FC236}">
                <a16:creationId xmlns:a16="http://schemas.microsoft.com/office/drawing/2014/main" id="{89629AE7-ECB2-0FF7-3E8F-C0D5CCDB9437}"/>
              </a:ext>
            </a:extLst>
          </p:cNvPr>
          <p:cNvSpPr>
            <a:spLocks noGrp="1"/>
          </p:cNvSpPr>
          <p:nvPr>
            <p:ph type="body" idx="1"/>
          </p:nvPr>
        </p:nvSpPr>
        <p:spPr/>
        <p:txBody>
          <a:bodyPr/>
          <a:lstStyle/>
          <a:p>
            <a:r>
              <a:rPr lang="en-US" dirty="0"/>
              <a:t>High Item Purchasing Dates</a:t>
            </a:r>
          </a:p>
        </p:txBody>
      </p:sp>
      <p:sp>
        <p:nvSpPr>
          <p:cNvPr id="3" name="Content Placeholder 2">
            <a:extLst>
              <a:ext uri="{FF2B5EF4-FFF2-40B4-BE49-F238E27FC236}">
                <a16:creationId xmlns:a16="http://schemas.microsoft.com/office/drawing/2014/main" id="{51A32370-F2BC-69F4-320B-04827EE14030}"/>
              </a:ext>
            </a:extLst>
          </p:cNvPr>
          <p:cNvSpPr>
            <a:spLocks noGrp="1"/>
          </p:cNvSpPr>
          <p:nvPr>
            <p:ph sz="half" idx="2"/>
          </p:nvPr>
        </p:nvSpPr>
        <p:spPr/>
        <p:txBody>
          <a:bodyPr>
            <a:normAutofit/>
          </a:bodyPr>
          <a:lstStyle/>
          <a:p>
            <a:r>
              <a:rPr lang="en-US" sz="1800" dirty="0"/>
              <a:t>Top product locations – </a:t>
            </a:r>
          </a:p>
          <a:p>
            <a:pPr lvl="1"/>
            <a:r>
              <a:rPr lang="en-US" sz="1600" dirty="0"/>
              <a:t>Rear end cap - 78</a:t>
            </a:r>
          </a:p>
          <a:p>
            <a:pPr lvl="1"/>
            <a:r>
              <a:rPr lang="en-US" sz="1600" dirty="0"/>
              <a:t>In-Aisle - 63</a:t>
            </a:r>
          </a:p>
          <a:p>
            <a:pPr lvl="1"/>
            <a:r>
              <a:rPr lang="en-US" sz="1600" dirty="0"/>
              <a:t>Other Location Display - 61</a:t>
            </a:r>
          </a:p>
          <a:p>
            <a:pPr lvl="1"/>
            <a:r>
              <a:rPr lang="en-US" sz="1600" dirty="0"/>
              <a:t>Front End Cap - 60</a:t>
            </a:r>
          </a:p>
        </p:txBody>
      </p:sp>
      <p:sp>
        <p:nvSpPr>
          <p:cNvPr id="6" name="Text Placeholder 5">
            <a:extLst>
              <a:ext uri="{FF2B5EF4-FFF2-40B4-BE49-F238E27FC236}">
                <a16:creationId xmlns:a16="http://schemas.microsoft.com/office/drawing/2014/main" id="{38485F4B-7364-2DF9-3F52-EDF240D01E0E}"/>
              </a:ext>
            </a:extLst>
          </p:cNvPr>
          <p:cNvSpPr>
            <a:spLocks noGrp="1"/>
          </p:cNvSpPr>
          <p:nvPr>
            <p:ph type="body" sz="quarter" idx="3"/>
          </p:nvPr>
        </p:nvSpPr>
        <p:spPr/>
        <p:txBody>
          <a:bodyPr/>
          <a:lstStyle/>
          <a:p>
            <a:r>
              <a:rPr lang="en-US" dirty="0"/>
              <a:t>Low Item Purchasing Dates</a:t>
            </a:r>
          </a:p>
        </p:txBody>
      </p:sp>
      <p:sp>
        <p:nvSpPr>
          <p:cNvPr id="7" name="Content Placeholder 6">
            <a:extLst>
              <a:ext uri="{FF2B5EF4-FFF2-40B4-BE49-F238E27FC236}">
                <a16:creationId xmlns:a16="http://schemas.microsoft.com/office/drawing/2014/main" id="{A38C3C1D-972C-4EE9-5764-7DA813180EF1}"/>
              </a:ext>
            </a:extLst>
          </p:cNvPr>
          <p:cNvSpPr>
            <a:spLocks noGrp="1"/>
          </p:cNvSpPr>
          <p:nvPr>
            <p:ph sz="quarter" idx="4"/>
          </p:nvPr>
        </p:nvSpPr>
        <p:spPr/>
        <p:txBody>
          <a:bodyPr>
            <a:normAutofit/>
          </a:bodyPr>
          <a:lstStyle/>
          <a:p>
            <a:r>
              <a:rPr lang="en-US" sz="2000" dirty="0"/>
              <a:t>Top product locations – </a:t>
            </a:r>
          </a:p>
          <a:p>
            <a:pPr lvl="1"/>
            <a:r>
              <a:rPr lang="en-US" sz="1800" dirty="0"/>
              <a:t>In-aisle - 94</a:t>
            </a:r>
          </a:p>
          <a:p>
            <a:pPr lvl="1"/>
            <a:r>
              <a:rPr lang="en-US" sz="1800" dirty="0"/>
              <a:t>Other location display - 94</a:t>
            </a:r>
          </a:p>
          <a:p>
            <a:pPr lvl="1"/>
            <a:r>
              <a:rPr lang="en-US" sz="1800" dirty="0"/>
              <a:t>Side-aisle end cap - 47</a:t>
            </a:r>
          </a:p>
        </p:txBody>
      </p:sp>
      <p:pic>
        <p:nvPicPr>
          <p:cNvPr id="5" name="Picture 4">
            <a:extLst>
              <a:ext uri="{FF2B5EF4-FFF2-40B4-BE49-F238E27FC236}">
                <a16:creationId xmlns:a16="http://schemas.microsoft.com/office/drawing/2014/main" id="{987B1C20-DF65-8F67-3E9A-767D4457E95E}"/>
              </a:ext>
            </a:extLst>
          </p:cNvPr>
          <p:cNvPicPr>
            <a:picLocks noChangeAspect="1"/>
          </p:cNvPicPr>
          <p:nvPr/>
        </p:nvPicPr>
        <p:blipFill>
          <a:blip r:embed="rId3"/>
          <a:stretch>
            <a:fillRect/>
          </a:stretch>
        </p:blipFill>
        <p:spPr>
          <a:xfrm>
            <a:off x="3418681" y="3773096"/>
            <a:ext cx="2903124" cy="3084904"/>
          </a:xfrm>
          <a:prstGeom prst="rect">
            <a:avLst/>
          </a:prstGeom>
        </p:spPr>
      </p:pic>
      <p:pic>
        <p:nvPicPr>
          <p:cNvPr id="8" name="Picture 7">
            <a:extLst>
              <a:ext uri="{FF2B5EF4-FFF2-40B4-BE49-F238E27FC236}">
                <a16:creationId xmlns:a16="http://schemas.microsoft.com/office/drawing/2014/main" id="{9C313523-9F7C-13A6-84A3-C6C9AD23B6D3}"/>
              </a:ext>
            </a:extLst>
          </p:cNvPr>
          <p:cNvPicPr>
            <a:picLocks noChangeAspect="1"/>
          </p:cNvPicPr>
          <p:nvPr/>
        </p:nvPicPr>
        <p:blipFill>
          <a:blip r:embed="rId4"/>
          <a:stretch>
            <a:fillRect/>
          </a:stretch>
        </p:blipFill>
        <p:spPr>
          <a:xfrm>
            <a:off x="8932318" y="3821113"/>
            <a:ext cx="2750957" cy="2923208"/>
          </a:xfrm>
          <a:prstGeom prst="rect">
            <a:avLst/>
          </a:prstGeom>
        </p:spPr>
      </p:pic>
    </p:spTree>
    <p:extLst>
      <p:ext uri="{BB962C8B-B14F-4D97-AF65-F5344CB8AC3E}">
        <p14:creationId xmlns:p14="http://schemas.microsoft.com/office/powerpoint/2010/main" val="414858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10C4C-6D06-5540-D635-B8B56940BCDD}"/>
              </a:ext>
            </a:extLst>
          </p:cNvPr>
          <p:cNvSpPr>
            <a:spLocks noGrp="1"/>
          </p:cNvSpPr>
          <p:nvPr>
            <p:ph type="title"/>
          </p:nvPr>
        </p:nvSpPr>
        <p:spPr/>
        <p:txBody>
          <a:bodyPr/>
          <a:lstStyle/>
          <a:p>
            <a:r>
              <a:rPr lang="en-US" dirty="0"/>
              <a:t>Insights for Businesses</a:t>
            </a:r>
          </a:p>
        </p:txBody>
      </p:sp>
      <p:sp>
        <p:nvSpPr>
          <p:cNvPr id="3" name="Content Placeholder 2">
            <a:extLst>
              <a:ext uri="{FF2B5EF4-FFF2-40B4-BE49-F238E27FC236}">
                <a16:creationId xmlns:a16="http://schemas.microsoft.com/office/drawing/2014/main" id="{96391C75-115C-A07D-F92D-185416F43DD9}"/>
              </a:ext>
            </a:extLst>
          </p:cNvPr>
          <p:cNvSpPr>
            <a:spLocks noGrp="1"/>
          </p:cNvSpPr>
          <p:nvPr>
            <p:ph idx="1"/>
          </p:nvPr>
        </p:nvSpPr>
        <p:spPr/>
        <p:txBody>
          <a:bodyPr>
            <a:normAutofit/>
          </a:bodyPr>
          <a:lstStyle/>
          <a:p>
            <a:r>
              <a:rPr lang="en-US" dirty="0"/>
              <a:t>Grocery stores should prioritize keeping consistent, year-round stock of items located in</a:t>
            </a:r>
          </a:p>
          <a:p>
            <a:pPr lvl="1"/>
            <a:r>
              <a:rPr lang="en-US" dirty="0"/>
              <a:t>In aisles</a:t>
            </a:r>
          </a:p>
          <a:p>
            <a:pPr lvl="1"/>
            <a:r>
              <a:rPr lang="en-US" dirty="0"/>
              <a:t>Other location displays</a:t>
            </a:r>
          </a:p>
          <a:p>
            <a:r>
              <a:rPr lang="en-US" dirty="0"/>
              <a:t>Grocery stores should also emphasize keeping stock of the following items when coupon events occur during high purchasing times -</a:t>
            </a:r>
          </a:p>
          <a:p>
            <a:pPr lvl="1"/>
            <a:r>
              <a:rPr lang="en-US" dirty="0"/>
              <a:t>Milk</a:t>
            </a:r>
          </a:p>
          <a:p>
            <a:pPr lvl="1"/>
            <a:r>
              <a:rPr lang="en-US" dirty="0"/>
              <a:t>Frozen dinners</a:t>
            </a:r>
          </a:p>
          <a:p>
            <a:pPr lvl="1"/>
            <a:r>
              <a:rPr lang="en-US" dirty="0"/>
              <a:t>Cheese</a:t>
            </a:r>
          </a:p>
        </p:txBody>
      </p:sp>
    </p:spTree>
    <p:extLst>
      <p:ext uri="{BB962C8B-B14F-4D97-AF65-F5344CB8AC3E}">
        <p14:creationId xmlns:p14="http://schemas.microsoft.com/office/powerpoint/2010/main" val="1021877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5F9AA-1873-A389-B9D8-905D4640CF1F}"/>
              </a:ext>
            </a:extLst>
          </p:cNvPr>
          <p:cNvSpPr>
            <a:spLocks noGrp="1"/>
          </p:cNvSpPr>
          <p:nvPr>
            <p:ph type="title"/>
          </p:nvPr>
        </p:nvSpPr>
        <p:spPr/>
        <p:txBody>
          <a:bodyPr/>
          <a:lstStyle/>
          <a:p>
            <a:r>
              <a:rPr lang="en-US" dirty="0"/>
              <a:t>Insight 3</a:t>
            </a:r>
          </a:p>
        </p:txBody>
      </p:sp>
      <p:sp>
        <p:nvSpPr>
          <p:cNvPr id="3" name="Text Placeholder 2">
            <a:extLst>
              <a:ext uri="{FF2B5EF4-FFF2-40B4-BE49-F238E27FC236}">
                <a16:creationId xmlns:a16="http://schemas.microsoft.com/office/drawing/2014/main" id="{3D9F9D4A-F629-53C5-516D-87C54127160C}"/>
              </a:ext>
            </a:extLst>
          </p:cNvPr>
          <p:cNvSpPr>
            <a:spLocks noGrp="1"/>
          </p:cNvSpPr>
          <p:nvPr>
            <p:ph type="body" idx="1"/>
          </p:nvPr>
        </p:nvSpPr>
        <p:spPr/>
        <p:txBody>
          <a:bodyPr/>
          <a:lstStyle/>
          <a:p>
            <a:r>
              <a:rPr lang="en-US" dirty="0"/>
              <a:t>How often does each age group shop at this store (aka purchase frequency)? Is this consistent with other sources?</a:t>
            </a:r>
          </a:p>
        </p:txBody>
      </p:sp>
    </p:spTree>
    <p:extLst>
      <p:ext uri="{BB962C8B-B14F-4D97-AF65-F5344CB8AC3E}">
        <p14:creationId xmlns:p14="http://schemas.microsoft.com/office/powerpoint/2010/main" val="1442569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0AA-D774-77F9-E427-5FA209575129}"/>
              </a:ext>
            </a:extLst>
          </p:cNvPr>
          <p:cNvSpPr>
            <a:spLocks noGrp="1"/>
          </p:cNvSpPr>
          <p:nvPr>
            <p:ph type="title"/>
          </p:nvPr>
        </p:nvSpPr>
        <p:spPr/>
        <p:txBody>
          <a:bodyPr/>
          <a:lstStyle/>
          <a:p>
            <a:r>
              <a:rPr lang="en-US" dirty="0"/>
              <a:t>Findings – Acme Dataset vs. Outside Dataset</a:t>
            </a:r>
          </a:p>
        </p:txBody>
      </p:sp>
      <p:sp>
        <p:nvSpPr>
          <p:cNvPr id="3" name="Content Placeholder 2">
            <a:extLst>
              <a:ext uri="{FF2B5EF4-FFF2-40B4-BE49-F238E27FC236}">
                <a16:creationId xmlns:a16="http://schemas.microsoft.com/office/drawing/2014/main" id="{3CFA54EC-E49B-3CC6-BB5D-3466CB1BECB0}"/>
              </a:ext>
            </a:extLst>
          </p:cNvPr>
          <p:cNvSpPr>
            <a:spLocks noGrp="1"/>
          </p:cNvSpPr>
          <p:nvPr>
            <p:ph idx="1"/>
          </p:nvPr>
        </p:nvSpPr>
        <p:spPr/>
        <p:txBody>
          <a:bodyPr>
            <a:normAutofit fontScale="92500" lnSpcReduction="10000"/>
          </a:bodyPr>
          <a:lstStyle/>
          <a:p>
            <a:r>
              <a:rPr lang="en-US" dirty="0"/>
              <a:t>Acme Dataset – </a:t>
            </a:r>
          </a:p>
          <a:p>
            <a:pPr lvl="1"/>
            <a:r>
              <a:rPr lang="en-US" dirty="0"/>
              <a:t>65+ year old customers have highest purchase frequency over one year</a:t>
            </a:r>
          </a:p>
          <a:p>
            <a:pPr lvl="1"/>
            <a:r>
              <a:rPr lang="en-US" dirty="0"/>
              <a:t>25-34 year old customers have lowest purchase frequency over one year</a:t>
            </a:r>
          </a:p>
          <a:p>
            <a:r>
              <a:rPr lang="en-US" dirty="0"/>
              <a:t>Outside Dataset – </a:t>
            </a:r>
          </a:p>
          <a:p>
            <a:pPr lvl="1"/>
            <a:r>
              <a:rPr lang="en-US" dirty="0"/>
              <a:t>55-64 year old customers have highest purchase frequency over one year</a:t>
            </a:r>
          </a:p>
          <a:p>
            <a:pPr lvl="1"/>
            <a:r>
              <a:rPr lang="en-US" dirty="0"/>
              <a:t>&gt; 25 year old customers have lowest purchase frequency over one year</a:t>
            </a:r>
          </a:p>
          <a:p>
            <a:r>
              <a:rPr lang="en-US" dirty="0"/>
              <a:t>Conclusion – as customers increase in age, so does their purchase frequency</a:t>
            </a:r>
          </a:p>
          <a:p>
            <a:pPr lvl="1"/>
            <a:r>
              <a:rPr lang="en-US" dirty="0"/>
              <a:t>Younger demographics tend to have children, which can hinder purchase frequency</a:t>
            </a:r>
          </a:p>
          <a:p>
            <a:pPr lvl="1"/>
            <a:r>
              <a:rPr lang="en-US" dirty="0"/>
              <a:t>Older demographics don’t have to worry about children, so they have more free time to shop</a:t>
            </a:r>
          </a:p>
        </p:txBody>
      </p:sp>
    </p:spTree>
    <p:extLst>
      <p:ext uri="{BB962C8B-B14F-4D97-AF65-F5344CB8AC3E}">
        <p14:creationId xmlns:p14="http://schemas.microsoft.com/office/powerpoint/2010/main" val="244108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9F493-597B-2BEE-4F3E-32E8D43781F1}"/>
              </a:ext>
            </a:extLst>
          </p:cNvPr>
          <p:cNvSpPr>
            <a:spLocks noGrp="1"/>
          </p:cNvSpPr>
          <p:nvPr>
            <p:ph type="title"/>
          </p:nvPr>
        </p:nvSpPr>
        <p:spPr/>
        <p:txBody>
          <a:bodyPr/>
          <a:lstStyle/>
          <a:p>
            <a:r>
              <a:rPr lang="en-US" dirty="0"/>
              <a:t>Findings – Visual Comparison</a:t>
            </a:r>
          </a:p>
        </p:txBody>
      </p:sp>
      <p:pic>
        <p:nvPicPr>
          <p:cNvPr id="10" name="Picture 9">
            <a:extLst>
              <a:ext uri="{FF2B5EF4-FFF2-40B4-BE49-F238E27FC236}">
                <a16:creationId xmlns:a16="http://schemas.microsoft.com/office/drawing/2014/main" id="{C3F15F05-ED70-5789-F9E8-81B946221FF1}"/>
              </a:ext>
            </a:extLst>
          </p:cNvPr>
          <p:cNvPicPr>
            <a:picLocks noChangeAspect="1"/>
          </p:cNvPicPr>
          <p:nvPr/>
        </p:nvPicPr>
        <p:blipFill>
          <a:blip r:embed="rId3"/>
          <a:stretch>
            <a:fillRect/>
          </a:stretch>
        </p:blipFill>
        <p:spPr>
          <a:xfrm>
            <a:off x="354082" y="1908736"/>
            <a:ext cx="5257800" cy="4362450"/>
          </a:xfrm>
          <a:prstGeom prst="rect">
            <a:avLst/>
          </a:prstGeom>
        </p:spPr>
      </p:pic>
      <p:pic>
        <p:nvPicPr>
          <p:cNvPr id="11" name="Picture 10">
            <a:extLst>
              <a:ext uri="{FF2B5EF4-FFF2-40B4-BE49-F238E27FC236}">
                <a16:creationId xmlns:a16="http://schemas.microsoft.com/office/drawing/2014/main" id="{F8FE3871-AE23-519E-6A85-6B296F3FAA7A}"/>
              </a:ext>
            </a:extLst>
          </p:cNvPr>
          <p:cNvPicPr>
            <a:picLocks noChangeAspect="1"/>
          </p:cNvPicPr>
          <p:nvPr/>
        </p:nvPicPr>
        <p:blipFill>
          <a:blip r:embed="rId4"/>
          <a:stretch>
            <a:fillRect/>
          </a:stretch>
        </p:blipFill>
        <p:spPr>
          <a:xfrm>
            <a:off x="6368321" y="1835330"/>
            <a:ext cx="5135702" cy="4331771"/>
          </a:xfrm>
          <a:prstGeom prst="rect">
            <a:avLst/>
          </a:prstGeom>
        </p:spPr>
      </p:pic>
    </p:spTree>
    <p:extLst>
      <p:ext uri="{BB962C8B-B14F-4D97-AF65-F5344CB8AC3E}">
        <p14:creationId xmlns:p14="http://schemas.microsoft.com/office/powerpoint/2010/main" val="1207236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70EAD-B2A3-3EB6-4456-5CE5A175D458}"/>
              </a:ext>
            </a:extLst>
          </p:cNvPr>
          <p:cNvSpPr>
            <a:spLocks noGrp="1"/>
          </p:cNvSpPr>
          <p:nvPr>
            <p:ph type="title"/>
          </p:nvPr>
        </p:nvSpPr>
        <p:spPr/>
        <p:txBody>
          <a:bodyPr/>
          <a:lstStyle/>
          <a:p>
            <a:r>
              <a:rPr lang="en-US" dirty="0"/>
              <a:t>Insights for Businesses</a:t>
            </a:r>
          </a:p>
        </p:txBody>
      </p:sp>
      <p:sp>
        <p:nvSpPr>
          <p:cNvPr id="3" name="Content Placeholder 2">
            <a:extLst>
              <a:ext uri="{FF2B5EF4-FFF2-40B4-BE49-F238E27FC236}">
                <a16:creationId xmlns:a16="http://schemas.microsoft.com/office/drawing/2014/main" id="{478FEFA8-574F-1FD2-0B0D-B1FB8D4E1FD7}"/>
              </a:ext>
            </a:extLst>
          </p:cNvPr>
          <p:cNvSpPr>
            <a:spLocks noGrp="1"/>
          </p:cNvSpPr>
          <p:nvPr>
            <p:ph idx="1"/>
          </p:nvPr>
        </p:nvSpPr>
        <p:spPr/>
        <p:txBody>
          <a:bodyPr/>
          <a:lstStyle/>
          <a:p>
            <a:r>
              <a:rPr lang="en-US" dirty="0"/>
              <a:t>Grocery stores should cater more towards older demographics since they frequent their stores more often than other age demographics</a:t>
            </a:r>
          </a:p>
          <a:p>
            <a:r>
              <a:rPr lang="en-US" dirty="0"/>
              <a:t>Could include </a:t>
            </a:r>
          </a:p>
          <a:p>
            <a:pPr lvl="1"/>
            <a:r>
              <a:rPr lang="en-US" dirty="0"/>
              <a:t>Accommodations for mobility-challenged</a:t>
            </a:r>
          </a:p>
          <a:p>
            <a:pPr lvl="1"/>
            <a:r>
              <a:rPr lang="en-US" dirty="0"/>
              <a:t>Easy-to-read signage</a:t>
            </a:r>
          </a:p>
          <a:p>
            <a:pPr lvl="1"/>
            <a:r>
              <a:rPr lang="en-US" dirty="0"/>
              <a:t>Plenty of seating areas, such as benches, around store if they are large box stores</a:t>
            </a:r>
          </a:p>
        </p:txBody>
      </p:sp>
    </p:spTree>
    <p:extLst>
      <p:ext uri="{BB962C8B-B14F-4D97-AF65-F5344CB8AC3E}">
        <p14:creationId xmlns:p14="http://schemas.microsoft.com/office/powerpoint/2010/main" val="2621799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2E3DD-AEF4-FD9F-CD6D-30D10C23EA28}"/>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B5B207A4-ED65-3466-8A3D-EC79804324AF}"/>
              </a:ext>
            </a:extLst>
          </p:cNvPr>
          <p:cNvSpPr>
            <a:spLocks noGrp="1"/>
          </p:cNvSpPr>
          <p:nvPr>
            <p:ph idx="1"/>
          </p:nvPr>
        </p:nvSpPr>
        <p:spPr/>
        <p:txBody>
          <a:bodyPr/>
          <a:lstStyle/>
          <a:p>
            <a:r>
              <a:rPr lang="en-US" dirty="0"/>
              <a:t>Outside Dataset - </a:t>
            </a:r>
            <a:r>
              <a:rPr lang="en-US" dirty="0">
                <a:hlinkClick r:id="rId2"/>
              </a:rPr>
              <a:t>https://www.kaggle.com/datasets/hanaksoy/customer-purchasing-behaviors</a:t>
            </a:r>
            <a:endParaRPr lang="en-US" dirty="0"/>
          </a:p>
          <a:p>
            <a:r>
              <a:rPr lang="en-US" dirty="0"/>
              <a:t>Pandas Documentation Reference - </a:t>
            </a:r>
            <a:r>
              <a:rPr lang="en-US" dirty="0">
                <a:hlinkClick r:id="rId3"/>
              </a:rPr>
              <a:t>https://pandas.pydata.org/docs/index.html</a:t>
            </a:r>
            <a:endParaRPr lang="en-US" dirty="0"/>
          </a:p>
        </p:txBody>
      </p:sp>
    </p:spTree>
    <p:extLst>
      <p:ext uri="{BB962C8B-B14F-4D97-AF65-F5344CB8AC3E}">
        <p14:creationId xmlns:p14="http://schemas.microsoft.com/office/powerpoint/2010/main" val="2725554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10036</TotalTime>
  <Words>672</Words>
  <Application>Microsoft Office PowerPoint</Application>
  <PresentationFormat>Widescreen</PresentationFormat>
  <Paragraphs>109</Paragraphs>
  <Slides>14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Raleway</vt:lpstr>
      <vt:lpstr>Raleway Bold</vt:lpstr>
      <vt:lpstr>Office Theme</vt:lpstr>
      <vt:lpstr>Final Analysis Project</vt:lpstr>
      <vt:lpstr>Insight 1</vt:lpstr>
      <vt:lpstr>Findings</vt:lpstr>
      <vt:lpstr>PowerPoint Presentation</vt:lpstr>
      <vt:lpstr>PowerPoint Presentation</vt:lpstr>
      <vt:lpstr>Insight 2</vt:lpstr>
      <vt:lpstr>Findings</vt:lpstr>
      <vt:lpstr>Findings – Item Display Location Comparison</vt:lpstr>
      <vt:lpstr>Insights for Businesses</vt:lpstr>
      <vt:lpstr>Insight 3</vt:lpstr>
      <vt:lpstr>Findings – Acme Dataset vs. Outside Dataset</vt:lpstr>
      <vt:lpstr>Findings – Visual Comparison</vt:lpstr>
      <vt:lpstr>Insights for Businesses</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Arredondo</dc:creator>
  <cp:lastModifiedBy>Elizabeth Arredondo</cp:lastModifiedBy>
  <cp:revision>1</cp:revision>
  <dcterms:created xsi:type="dcterms:W3CDTF">2025-11-26T15:37:10Z</dcterms:created>
  <dcterms:modified xsi:type="dcterms:W3CDTF">2025-12-05T03:56:35Z</dcterms:modified>
</cp:coreProperties>
</file>